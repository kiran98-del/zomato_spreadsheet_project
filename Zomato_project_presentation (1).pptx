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1" r:id="rId15"/>
    <p:sldId id="272" r:id="rId16"/>
    <p:sldId id="273" r:id="rId17"/>
    <p:sldId id="274" r:id="rId18"/>
    <p:sldId id="275" r:id="rId19"/>
    <p:sldId id="277" r:id="rId20"/>
    <p:sldId id="278"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B0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B2836B-FCD3-C95F-1499-AD7BD3723E0E}" v="49" dt="2025-02-03T06:54:27.961"/>
    <p1510:client id="{A10A3550-A2D3-78E8-669F-D228D0CC7337}" v="491" dt="2025-02-03T06:25:29.5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2/2/2025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4825344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2/2/2025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631362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2/2/2025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26139896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2/2/2025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5606943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2/2/2025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6013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2/2/2025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179265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2/2/2025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409925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2/2/2025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78006176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2/2/2025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5550000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2/2/2025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18143543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2/2/2025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02229905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2/2/2025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3158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agpurtoday.in/zomato-ipo-subscribed-36-in-early-hours/07141455"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creative-commons-images.com/handwriting/o/objectives.html"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4490" y="892325"/>
            <a:ext cx="4586378" cy="2330091"/>
          </a:xfrm>
        </p:spPr>
        <p:txBody>
          <a:bodyPr>
            <a:normAutofit fontScale="90000"/>
          </a:bodyPr>
          <a:lstStyle/>
          <a:p>
            <a:r>
              <a:rPr lang="en-US" dirty="0">
                <a:solidFill>
                  <a:srgbClr val="C00000"/>
                </a:solidFill>
              </a:rPr>
              <a:t>ZOMATO RESTAURANTs ANALYSIS</a:t>
            </a:r>
          </a:p>
        </p:txBody>
      </p:sp>
      <p:sp>
        <p:nvSpPr>
          <p:cNvPr id="3" name="Subtitle 2"/>
          <p:cNvSpPr>
            <a:spLocks noGrp="1"/>
          </p:cNvSpPr>
          <p:nvPr>
            <p:ph type="subTitle" idx="1"/>
          </p:nvPr>
        </p:nvSpPr>
        <p:spPr>
          <a:xfrm>
            <a:off x="704491" y="4795359"/>
            <a:ext cx="4341963" cy="1655762"/>
          </a:xfrm>
        </p:spPr>
        <p:txBody>
          <a:bodyPr vert="horz" lIns="91440" tIns="45720" rIns="91440" bIns="45720" rtlCol="0" anchor="t">
            <a:normAutofit/>
          </a:bodyPr>
          <a:lstStyle/>
          <a:p>
            <a:r>
              <a:rPr lang="en-US" dirty="0"/>
              <a:t>By Kiranjeet Kaur</a:t>
            </a:r>
          </a:p>
          <a:p>
            <a:r>
              <a:rPr lang="en-US" dirty="0"/>
              <a:t>25-01-2025</a:t>
            </a:r>
          </a:p>
        </p:txBody>
      </p:sp>
      <p:pic>
        <p:nvPicPr>
          <p:cNvPr id="4" name="Picture 3" descr="Silverware Plate Fork · Free vector graphic on Pixabay">
            <a:extLst>
              <a:ext uri="{FF2B5EF4-FFF2-40B4-BE49-F238E27FC236}">
                <a16:creationId xmlns:a16="http://schemas.microsoft.com/office/drawing/2014/main" id="{27EC26A8-7973-103D-CCB1-97C84DA961D1}"/>
              </a:ext>
            </a:extLst>
          </p:cNvPr>
          <p:cNvPicPr>
            <a:picLocks noChangeAspect="1"/>
          </p:cNvPicPr>
          <p:nvPr/>
        </p:nvPicPr>
        <p:blipFill>
          <a:blip r:embed="rId2"/>
          <a:stretch>
            <a:fillRect/>
          </a:stretch>
        </p:blipFill>
        <p:spPr>
          <a:xfrm>
            <a:off x="5046453" y="1238788"/>
            <a:ext cx="5980982" cy="438042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6581DD-EDCD-D3D0-6199-A86128C675B8}"/>
              </a:ext>
            </a:extLst>
          </p:cNvPr>
          <p:cNvSpPr>
            <a:spLocks noGrp="1"/>
          </p:cNvSpPr>
          <p:nvPr>
            <p:ph type="dt" sz="half" idx="10"/>
          </p:nvPr>
        </p:nvSpPr>
        <p:spPr/>
        <p:txBody>
          <a:bodyPr/>
          <a:lstStyle/>
          <a:p>
            <a:fld id="{DDAF113A-36E7-462D-B427-31D6C5C415FA}" type="datetime1">
              <a:t>2/2/2025</a:t>
            </a:fld>
            <a:endParaRPr lang="en-US" dirty="0"/>
          </a:p>
        </p:txBody>
      </p:sp>
      <p:sp>
        <p:nvSpPr>
          <p:cNvPr id="3" name="Footer Placeholder 2">
            <a:extLst>
              <a:ext uri="{FF2B5EF4-FFF2-40B4-BE49-F238E27FC236}">
                <a16:creationId xmlns:a16="http://schemas.microsoft.com/office/drawing/2014/main" id="{02C45D52-6C25-1781-E7CF-9E86EFB39C22}"/>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8C42BC95-67D7-F2BA-6A1C-0427F0E1F370}"/>
              </a:ext>
            </a:extLst>
          </p:cNvPr>
          <p:cNvSpPr>
            <a:spLocks noGrp="1"/>
          </p:cNvSpPr>
          <p:nvPr>
            <p:ph type="sldNum" sz="quarter" idx="12"/>
          </p:nvPr>
        </p:nvSpPr>
        <p:spPr/>
        <p:txBody>
          <a:bodyPr/>
          <a:lstStyle/>
          <a:p>
            <a:fld id="{E30AF5A0-43BB-4336-8627-9123B9144D80}" type="slidenum">
              <a:rPr lang="en-US" dirty="0"/>
              <a:t>2</a:t>
            </a:fld>
            <a:endParaRPr lang="en-US" dirty="0"/>
          </a:p>
        </p:txBody>
      </p:sp>
      <p:sp>
        <p:nvSpPr>
          <p:cNvPr id="10" name="TextBox 9">
            <a:extLst>
              <a:ext uri="{FF2B5EF4-FFF2-40B4-BE49-F238E27FC236}">
                <a16:creationId xmlns:a16="http://schemas.microsoft.com/office/drawing/2014/main" id="{F257F732-858C-27AE-2411-3F3EF226EDE7}"/>
              </a:ext>
            </a:extLst>
          </p:cNvPr>
          <p:cNvSpPr txBox="1"/>
          <p:nvPr/>
        </p:nvSpPr>
        <p:spPr>
          <a:xfrm>
            <a:off x="712836" y="1146522"/>
            <a:ext cx="4139138"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Georgia"/>
              </a:rPr>
              <a:t>Unlocking the Flavor of Success: Unleashing Zomato's Expansion Potential</a:t>
            </a:r>
            <a:endParaRPr lang="en-US" sz="2400" dirty="0"/>
          </a:p>
          <a:p>
            <a:br>
              <a:rPr lang="en-US" dirty="0"/>
            </a:br>
            <a:endParaRPr lang="en-US" dirty="0"/>
          </a:p>
        </p:txBody>
      </p:sp>
      <p:pic>
        <p:nvPicPr>
          <p:cNvPr id="11" name="Picture 10" descr="A hand holding a phone&#10;&#10;AI-generated content may be incorrect.">
            <a:extLst>
              <a:ext uri="{FF2B5EF4-FFF2-40B4-BE49-F238E27FC236}">
                <a16:creationId xmlns:a16="http://schemas.microsoft.com/office/drawing/2014/main" id="{2E6FDBDB-5920-7208-0CD9-2A17ADCA1F6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251329" y="1149380"/>
            <a:ext cx="6333227" cy="4516107"/>
          </a:xfrm>
          <a:prstGeom prst="rect">
            <a:avLst/>
          </a:prstGeom>
        </p:spPr>
      </p:pic>
      <p:sp>
        <p:nvSpPr>
          <p:cNvPr id="14" name="TextBox 13">
            <a:extLst>
              <a:ext uri="{FF2B5EF4-FFF2-40B4-BE49-F238E27FC236}">
                <a16:creationId xmlns:a16="http://schemas.microsoft.com/office/drawing/2014/main" id="{E43B25F2-10AB-BABF-0FC4-CFA36F798AC0}"/>
              </a:ext>
            </a:extLst>
          </p:cNvPr>
          <p:cNvSpPr txBox="1"/>
          <p:nvPr/>
        </p:nvSpPr>
        <p:spPr>
          <a:xfrm>
            <a:off x="719793" y="3252197"/>
            <a:ext cx="328410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Did you know that the online food delivery market in India is projected to reach $15.5 billion by 2025, growing at a staggering CAGR of 30%?</a:t>
            </a:r>
            <a:endParaRPr lang="en-US"/>
          </a:p>
          <a:p>
            <a:br>
              <a:rPr lang="en-US" dirty="0"/>
            </a:br>
            <a:endParaRPr lang="en-US" dirty="0"/>
          </a:p>
        </p:txBody>
      </p:sp>
    </p:spTree>
    <p:extLst>
      <p:ext uri="{BB962C8B-B14F-4D97-AF65-F5344CB8AC3E}">
        <p14:creationId xmlns:p14="http://schemas.microsoft.com/office/powerpoint/2010/main" val="3946512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5EB9F-EF25-C32F-3075-2B33781F365C}"/>
              </a:ext>
            </a:extLst>
          </p:cNvPr>
          <p:cNvSpPr>
            <a:spLocks noGrp="1"/>
          </p:cNvSpPr>
          <p:nvPr>
            <p:ph type="dt" sz="half" idx="10"/>
          </p:nvPr>
        </p:nvSpPr>
        <p:spPr/>
        <p:txBody>
          <a:bodyPr/>
          <a:lstStyle/>
          <a:p>
            <a:fld id="{130DC20F-4A2B-4E28-9A06-43EA634BAC5E}" type="datetime1">
              <a:t>2/2/2025</a:t>
            </a:fld>
            <a:endParaRPr lang="en-US" dirty="0"/>
          </a:p>
        </p:txBody>
      </p:sp>
      <p:sp>
        <p:nvSpPr>
          <p:cNvPr id="3" name="Footer Placeholder 2">
            <a:extLst>
              <a:ext uri="{FF2B5EF4-FFF2-40B4-BE49-F238E27FC236}">
                <a16:creationId xmlns:a16="http://schemas.microsoft.com/office/drawing/2014/main" id="{6ECDF76D-7D05-833D-4520-D5D820AE4F41}"/>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BB0AB78-3B3E-EE55-2B49-A9F5C3CFB39A}"/>
              </a:ext>
            </a:extLst>
          </p:cNvPr>
          <p:cNvSpPr>
            <a:spLocks noGrp="1"/>
          </p:cNvSpPr>
          <p:nvPr>
            <p:ph type="sldNum" sz="quarter" idx="12"/>
          </p:nvPr>
        </p:nvSpPr>
        <p:spPr/>
        <p:txBody>
          <a:bodyPr/>
          <a:lstStyle/>
          <a:p>
            <a:fld id="{E30AF5A0-43BB-4336-8627-9123B9144D80}" type="slidenum">
              <a:rPr lang="en-US" dirty="0"/>
              <a:t>3</a:t>
            </a:fld>
            <a:endParaRPr lang="en-US" dirty="0"/>
          </a:p>
        </p:txBody>
      </p:sp>
      <p:sp>
        <p:nvSpPr>
          <p:cNvPr id="5" name="TextBox 4">
            <a:extLst>
              <a:ext uri="{FF2B5EF4-FFF2-40B4-BE49-F238E27FC236}">
                <a16:creationId xmlns:a16="http://schemas.microsoft.com/office/drawing/2014/main" id="{030DD8DA-FA21-CB8F-EA3E-9AE27A603D4B}"/>
              </a:ext>
            </a:extLst>
          </p:cNvPr>
          <p:cNvSpPr txBox="1"/>
          <p:nvPr/>
        </p:nvSpPr>
        <p:spPr>
          <a:xfrm>
            <a:off x="5251062" y="1162802"/>
            <a:ext cx="633423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cs typeface="Arial"/>
              </a:rPr>
              <a:t>.</a:t>
            </a:r>
            <a:endParaRPr lang="en-US" sz="1600" dirty="0"/>
          </a:p>
        </p:txBody>
      </p:sp>
      <p:sp>
        <p:nvSpPr>
          <p:cNvPr id="6" name="TextBox 5">
            <a:extLst>
              <a:ext uri="{FF2B5EF4-FFF2-40B4-BE49-F238E27FC236}">
                <a16:creationId xmlns:a16="http://schemas.microsoft.com/office/drawing/2014/main" id="{4335E752-5276-0A23-D2F1-6358D7730676}"/>
              </a:ext>
            </a:extLst>
          </p:cNvPr>
          <p:cNvSpPr txBox="1"/>
          <p:nvPr/>
        </p:nvSpPr>
        <p:spPr>
          <a:xfrm>
            <a:off x="6093620" y="1158534"/>
            <a:ext cx="5343958" cy="49244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latin typeface="Georgia"/>
              </a:rPr>
              <a:t>Context</a:t>
            </a:r>
            <a:endParaRPr lang="en-US" sz="1600" dirty="0"/>
          </a:p>
          <a:p>
            <a:r>
              <a:rPr lang="en-US" sz="1600" dirty="0">
                <a:latin typeface="Arial"/>
                <a:cs typeface="Arial"/>
              </a:rPr>
              <a:t>As a leading food delivery platform, Zomato aims to capitalize on this trend and expand its presence in the market.</a:t>
            </a:r>
            <a:endParaRPr lang="en-US" sz="1600"/>
          </a:p>
          <a:p>
            <a:endParaRPr lang="en-US" dirty="0"/>
          </a:p>
          <a:p>
            <a:r>
              <a:rPr lang="en-US" sz="1600" b="1" dirty="0">
                <a:latin typeface="Arial"/>
                <a:cs typeface="Arial"/>
              </a:rPr>
              <a:t>  Primary Objectives</a:t>
            </a:r>
            <a:endParaRPr lang="en-US" sz="1600" dirty="0"/>
          </a:p>
          <a:p>
            <a:r>
              <a:rPr lang="en-US" sz="1600" dirty="0">
                <a:latin typeface="Arial"/>
                <a:cs typeface="Arial"/>
              </a:rPr>
              <a:t>This project seeks to:</a:t>
            </a:r>
            <a:endParaRPr lang="en-US" sz="1600"/>
          </a:p>
          <a:p>
            <a:pPr marL="285750" indent="-285750">
              <a:buFont typeface="Wingdings"/>
              <a:buChar char="v"/>
            </a:pPr>
            <a:r>
              <a:rPr lang="en-US" sz="1600" b="1" dirty="0">
                <a:latin typeface="Arial"/>
                <a:cs typeface="Arial"/>
              </a:rPr>
              <a:t> Identify potential areas for expansion:</a:t>
            </a:r>
            <a:r>
              <a:rPr lang="en-US" sz="1600" dirty="0">
                <a:latin typeface="Arial"/>
                <a:cs typeface="Arial"/>
              </a:rPr>
              <a:t> Analyze demographic, market, and competitive trends to pinpoint high-growth areas for Zomato's expansion.</a:t>
            </a:r>
            <a:endParaRPr lang="en-US" sz="1600"/>
          </a:p>
          <a:p>
            <a:pPr marL="285750" indent="-285750">
              <a:buFont typeface="Wingdings"/>
              <a:buChar char="v"/>
            </a:pPr>
            <a:r>
              <a:rPr lang="en-US" sz="1600" b="1" dirty="0">
                <a:latin typeface="Arial"/>
                <a:cs typeface="Arial"/>
              </a:rPr>
              <a:t> Understand market trends and preferences:</a:t>
            </a:r>
            <a:r>
              <a:rPr lang="en-US" sz="1600" dirty="0">
                <a:latin typeface="Arial"/>
                <a:cs typeface="Arial"/>
              </a:rPr>
              <a:t> Uncover insights on consumer behavior, preferences, and pain points to inform Zomato's menu offerings, marketing strategies, and operational improvements.</a:t>
            </a:r>
            <a:endParaRPr lang="en-US" sz="1600"/>
          </a:p>
          <a:p>
            <a:pPr marL="285750" indent="-285750">
              <a:buFont typeface="Wingdings"/>
              <a:buChar char="v"/>
            </a:pPr>
            <a:r>
              <a:rPr lang="en-US" sz="1600" b="1" dirty="0">
                <a:latin typeface="Arial"/>
                <a:cs typeface="Arial"/>
              </a:rPr>
              <a:t> Inform data-driven decisions:</a:t>
            </a:r>
            <a:r>
              <a:rPr lang="en-US" sz="1600" dirty="0">
                <a:latin typeface="Arial"/>
                <a:cs typeface="Arial"/>
              </a:rPr>
              <a:t> Provide actionable recommendations to Zomato's leadership team, enabling informed decisions on expansion, marketing, and operational strategies.</a:t>
            </a:r>
            <a:endParaRPr lang="en-US" sz="1600"/>
          </a:p>
          <a:p>
            <a:endParaRPr lang="en-US" sz="2400" dirty="0"/>
          </a:p>
        </p:txBody>
      </p:sp>
      <p:pic>
        <p:nvPicPr>
          <p:cNvPr id="7" name="Picture 6" descr="A hand writing on a white board&#10;&#10;AI-generated content may be incorrect.">
            <a:extLst>
              <a:ext uri="{FF2B5EF4-FFF2-40B4-BE49-F238E27FC236}">
                <a16:creationId xmlns:a16="http://schemas.microsoft.com/office/drawing/2014/main" id="{5374ACD3-DF40-97CB-F62B-B75BB757E7E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61998" y="1142999"/>
            <a:ext cx="5334003" cy="4917058"/>
          </a:xfrm>
          <a:prstGeom prst="rect">
            <a:avLst/>
          </a:prstGeom>
        </p:spPr>
      </p:pic>
    </p:spTree>
    <p:extLst>
      <p:ext uri="{BB962C8B-B14F-4D97-AF65-F5344CB8AC3E}">
        <p14:creationId xmlns:p14="http://schemas.microsoft.com/office/powerpoint/2010/main" val="3899424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16087E-91F4-423B-97D5-CC3CC77ED922}"/>
              </a:ext>
            </a:extLst>
          </p:cNvPr>
          <p:cNvSpPr>
            <a:spLocks noGrp="1"/>
          </p:cNvSpPr>
          <p:nvPr>
            <p:ph type="dt" sz="half" idx="10"/>
          </p:nvPr>
        </p:nvSpPr>
        <p:spPr/>
        <p:txBody>
          <a:bodyPr/>
          <a:lstStyle/>
          <a:p>
            <a:fld id="{CFCFF617-4559-4C93-B619-D12AAB41E777}" type="datetime1">
              <a:t>2/2/2025</a:t>
            </a:fld>
            <a:endParaRPr lang="en-US" dirty="0"/>
          </a:p>
        </p:txBody>
      </p:sp>
      <p:sp>
        <p:nvSpPr>
          <p:cNvPr id="3" name="Footer Placeholder 2">
            <a:extLst>
              <a:ext uri="{FF2B5EF4-FFF2-40B4-BE49-F238E27FC236}">
                <a16:creationId xmlns:a16="http://schemas.microsoft.com/office/drawing/2014/main" id="{783C239A-7B4A-AAF2-B8A3-747529EBA035}"/>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25CE95D2-886A-30F4-9133-57326BF1D136}"/>
              </a:ext>
            </a:extLst>
          </p:cNvPr>
          <p:cNvSpPr>
            <a:spLocks noGrp="1"/>
          </p:cNvSpPr>
          <p:nvPr>
            <p:ph type="sldNum" sz="quarter" idx="12"/>
          </p:nvPr>
        </p:nvSpPr>
        <p:spPr/>
        <p:txBody>
          <a:bodyPr/>
          <a:lstStyle/>
          <a:p>
            <a:fld id="{E30AF5A0-43BB-4336-8627-9123B9144D80}" type="slidenum">
              <a:rPr lang="en-US" dirty="0"/>
              <a:t>4</a:t>
            </a:fld>
            <a:endParaRPr lang="en-US" dirty="0"/>
          </a:p>
        </p:txBody>
      </p:sp>
      <p:sp>
        <p:nvSpPr>
          <p:cNvPr id="5" name="TextBox 4">
            <a:extLst>
              <a:ext uri="{FF2B5EF4-FFF2-40B4-BE49-F238E27FC236}">
                <a16:creationId xmlns:a16="http://schemas.microsoft.com/office/drawing/2014/main" id="{EFBE7D5B-FBF8-A450-DA8B-A0DC2C7E9D6C}"/>
              </a:ext>
            </a:extLst>
          </p:cNvPr>
          <p:cNvSpPr txBox="1"/>
          <p:nvPr/>
        </p:nvSpPr>
        <p:spPr>
          <a:xfrm>
            <a:off x="3284105" y="896263"/>
            <a:ext cx="429459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Arial"/>
                <a:cs typeface="Arial"/>
              </a:rPr>
              <a:t>  Data Overview</a:t>
            </a:r>
            <a:endParaRPr lang="en-US" sz="2400"/>
          </a:p>
          <a:p>
            <a:pPr algn="ctr"/>
            <a:br>
              <a:rPr lang="en-US" dirty="0"/>
            </a:br>
            <a:endParaRPr lang="en-US" dirty="0"/>
          </a:p>
        </p:txBody>
      </p:sp>
      <p:sp>
        <p:nvSpPr>
          <p:cNvPr id="6" name="TextBox 5">
            <a:extLst>
              <a:ext uri="{FF2B5EF4-FFF2-40B4-BE49-F238E27FC236}">
                <a16:creationId xmlns:a16="http://schemas.microsoft.com/office/drawing/2014/main" id="{B42A8F46-4323-AA20-D229-C9968D449FA0}"/>
              </a:ext>
            </a:extLst>
          </p:cNvPr>
          <p:cNvSpPr txBox="1"/>
          <p:nvPr/>
        </p:nvSpPr>
        <p:spPr>
          <a:xfrm>
            <a:off x="721370" y="1150463"/>
            <a:ext cx="6825239" cy="5386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dirty="0"/>
            </a:br>
            <a:endParaRPr lang="en-US"/>
          </a:p>
          <a:p>
            <a:r>
              <a:rPr lang="en-US" b="1" dirty="0">
                <a:latin typeface="Arial"/>
                <a:cs typeface="Arial"/>
              </a:rPr>
              <a:t>Dataset Summary</a:t>
            </a:r>
            <a:br>
              <a:rPr lang="en-US" sz="2800" dirty="0"/>
            </a:br>
            <a:endParaRPr lang="en-US" sz="2800" dirty="0"/>
          </a:p>
          <a:p>
            <a:pPr marL="285750" indent="-285750">
              <a:buFont typeface="Wingdings"/>
              <a:buChar char="q"/>
            </a:pPr>
            <a:r>
              <a:rPr lang="en-US" dirty="0">
                <a:latin typeface="Arial"/>
                <a:cs typeface="Arial"/>
              </a:rPr>
              <a:t>Total number of restaurants:9951 restaurants across 15 different countries.</a:t>
            </a:r>
            <a:endParaRPr lang="en-US"/>
          </a:p>
          <a:p>
            <a:pPr marL="285750" indent="-285750">
              <a:buFont typeface="Wingdings"/>
              <a:buChar char="q"/>
            </a:pPr>
            <a:r>
              <a:rPr lang="en-US" dirty="0">
                <a:latin typeface="Arial"/>
                <a:cs typeface="Arial"/>
              </a:rPr>
              <a:t>Total number of cities: 141 unique cities.</a:t>
            </a:r>
            <a:endParaRPr lang="en-US"/>
          </a:p>
          <a:p>
            <a:pPr marL="285750" indent="-285750">
              <a:buFont typeface="Wingdings"/>
              <a:buChar char="q"/>
            </a:pPr>
            <a:r>
              <a:rPr lang="en-US" dirty="0">
                <a:latin typeface="Arial"/>
                <a:cs typeface="Arial"/>
              </a:rPr>
              <a:t>1825 different cuisine offerings.</a:t>
            </a:r>
            <a:endParaRPr lang="en-US"/>
          </a:p>
          <a:p>
            <a:pPr marL="285750" indent="-285750">
              <a:buFont typeface="Wingdings"/>
              <a:buChar char="q"/>
            </a:pPr>
            <a:r>
              <a:rPr lang="en-US" dirty="0">
                <a:latin typeface="Arial"/>
                <a:cs typeface="Arial"/>
              </a:rPr>
              <a:t>Average rating 2.89 indicates customer </a:t>
            </a:r>
            <a:r>
              <a:rPr lang="en-US" err="1">
                <a:latin typeface="Arial"/>
                <a:cs typeface="Arial"/>
              </a:rPr>
              <a:t>behaviour</a:t>
            </a:r>
            <a:r>
              <a:rPr lang="en-US" dirty="0">
                <a:latin typeface="Arial"/>
                <a:cs typeface="Arial"/>
              </a:rPr>
              <a:t>.</a:t>
            </a:r>
            <a:endParaRPr lang="en-US"/>
          </a:p>
          <a:p>
            <a:endParaRPr lang="en-US" dirty="0">
              <a:latin typeface="Arial"/>
              <a:cs typeface="Arial"/>
            </a:endParaRPr>
          </a:p>
          <a:p>
            <a:pPr marL="285750" indent="-285750">
              <a:buFont typeface="Wingdings"/>
              <a:buChar char="q"/>
            </a:pPr>
            <a:r>
              <a:rPr lang="en-US" b="1" dirty="0">
                <a:latin typeface="Arial"/>
                <a:cs typeface="Arial"/>
              </a:rPr>
              <a:t>Data Cleaning and Preprocessing</a:t>
            </a:r>
            <a:endParaRPr lang="en-US"/>
          </a:p>
          <a:p>
            <a:endParaRPr lang="en-US" b="1" dirty="0">
              <a:latin typeface="Arial"/>
              <a:cs typeface="Arial"/>
            </a:endParaRPr>
          </a:p>
          <a:p>
            <a:pPr marL="285750" indent="-285750">
              <a:buFont typeface="Wingdings"/>
              <a:buChar char="q"/>
            </a:pPr>
            <a:r>
              <a:rPr lang="en-US" dirty="0">
                <a:latin typeface="Arial"/>
                <a:cs typeface="Arial"/>
              </a:rPr>
              <a:t>Separated currency symbol from text.</a:t>
            </a:r>
            <a:endParaRPr lang="en-US"/>
          </a:p>
          <a:p>
            <a:pPr marL="285750" indent="-285750">
              <a:buFont typeface="Wingdings"/>
              <a:buChar char="q"/>
            </a:pPr>
            <a:r>
              <a:rPr lang="en-US" dirty="0">
                <a:latin typeface="Arial"/>
                <a:cs typeface="Arial"/>
              </a:rPr>
              <a:t>Average cost for two values were converted to Indian Rupees (INR).</a:t>
            </a:r>
            <a:endParaRPr lang="en-US"/>
          </a:p>
          <a:p>
            <a:pPr marL="285750" indent="-285750">
              <a:buFont typeface="Wingdings"/>
              <a:buChar char="q"/>
            </a:pPr>
            <a:r>
              <a:rPr lang="en-US" dirty="0">
                <a:latin typeface="Arial"/>
                <a:cs typeface="Arial"/>
              </a:rPr>
              <a:t>The year was extracted from the date field, providing a clear timeline for analysis.</a:t>
            </a:r>
            <a:endParaRPr lang="en-US"/>
          </a:p>
          <a:p>
            <a:pPr algn="l"/>
            <a:endParaRPr lang="en-US" sz="2800" dirty="0"/>
          </a:p>
        </p:txBody>
      </p:sp>
      <p:pic>
        <p:nvPicPr>
          <p:cNvPr id="7" name="Graphic 6" descr="Database with solid fill">
            <a:extLst>
              <a:ext uri="{FF2B5EF4-FFF2-40B4-BE49-F238E27FC236}">
                <a16:creationId xmlns:a16="http://schemas.microsoft.com/office/drawing/2014/main" id="{53414516-EFEA-D8AA-799F-1E1CE63404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29932" y="2324821"/>
            <a:ext cx="1992701" cy="2639681"/>
          </a:xfrm>
          <a:prstGeom prst="rect">
            <a:avLst/>
          </a:prstGeom>
        </p:spPr>
      </p:pic>
    </p:spTree>
    <p:extLst>
      <p:ext uri="{BB962C8B-B14F-4D97-AF65-F5344CB8AC3E}">
        <p14:creationId xmlns:p14="http://schemas.microsoft.com/office/powerpoint/2010/main" val="1377691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40668-400F-9CC2-2F57-2CB77D9D89CF}"/>
              </a:ext>
            </a:extLst>
          </p:cNvPr>
          <p:cNvSpPr>
            <a:spLocks noGrp="1"/>
          </p:cNvSpPr>
          <p:nvPr>
            <p:ph type="dt" sz="half" idx="10"/>
          </p:nvPr>
        </p:nvSpPr>
        <p:spPr/>
        <p:txBody>
          <a:bodyPr/>
          <a:lstStyle/>
          <a:p>
            <a:fld id="{C9801CD7-D9EB-4D53-86B6-0A5CA997397A}" type="datetime1">
              <a:t>2/2/2025</a:t>
            </a:fld>
            <a:endParaRPr lang="en-US" dirty="0"/>
          </a:p>
        </p:txBody>
      </p:sp>
      <p:sp>
        <p:nvSpPr>
          <p:cNvPr id="3" name="Footer Placeholder 2">
            <a:extLst>
              <a:ext uri="{FF2B5EF4-FFF2-40B4-BE49-F238E27FC236}">
                <a16:creationId xmlns:a16="http://schemas.microsoft.com/office/drawing/2014/main" id="{BE9850F0-8DF4-2456-2DA4-E5C99360425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F2EFFBE-9124-4110-C3BF-826BAA7CFDE0}"/>
              </a:ext>
            </a:extLst>
          </p:cNvPr>
          <p:cNvSpPr>
            <a:spLocks noGrp="1"/>
          </p:cNvSpPr>
          <p:nvPr>
            <p:ph type="sldNum" sz="quarter" idx="12"/>
          </p:nvPr>
        </p:nvSpPr>
        <p:spPr/>
        <p:txBody>
          <a:bodyPr/>
          <a:lstStyle/>
          <a:p>
            <a:fld id="{E30AF5A0-43BB-4336-8627-9123B9144D80}" type="slidenum">
              <a:rPr lang="en-US" dirty="0"/>
              <a:t>5</a:t>
            </a:fld>
            <a:endParaRPr lang="en-US" dirty="0"/>
          </a:p>
        </p:txBody>
      </p:sp>
      <p:sp>
        <p:nvSpPr>
          <p:cNvPr id="5" name="TextBox 4">
            <a:extLst>
              <a:ext uri="{FF2B5EF4-FFF2-40B4-BE49-F238E27FC236}">
                <a16:creationId xmlns:a16="http://schemas.microsoft.com/office/drawing/2014/main" id="{4C976818-FD8F-AF44-AEDF-9780C6FEB3B3}"/>
              </a:ext>
            </a:extLst>
          </p:cNvPr>
          <p:cNvSpPr txBox="1"/>
          <p:nvPr/>
        </p:nvSpPr>
        <p:spPr>
          <a:xfrm>
            <a:off x="4615731" y="2102846"/>
            <a:ext cx="735144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dirty="0">
              <a:latin typeface="Calisto MT" panose="02040603050505030304"/>
              <a:cs typeface="Arial"/>
            </a:endParaRPr>
          </a:p>
          <a:p>
            <a:pPr algn="ctr"/>
            <a:endParaRPr lang="en-US" dirty="0">
              <a:latin typeface="Calisto MT" panose="02040603050505030304"/>
              <a:cs typeface="Arial"/>
            </a:endParaRPr>
          </a:p>
          <a:p>
            <a:pPr marL="285750" indent="-285750">
              <a:buFont typeface="Arial"/>
              <a:buChar char="•"/>
            </a:pPr>
            <a:r>
              <a:rPr lang="en-US" b="1" dirty="0">
                <a:latin typeface="Arial"/>
                <a:cs typeface="Arial"/>
              </a:rPr>
              <a:t> Identifies Market Trends: </a:t>
            </a:r>
            <a:r>
              <a:rPr lang="en-US" dirty="0">
                <a:latin typeface="Arial"/>
                <a:cs typeface="Arial"/>
              </a:rPr>
              <a:t>Restaurant data reveals market trends,</a:t>
            </a:r>
            <a:endParaRPr lang="en-US" dirty="0">
              <a:latin typeface="Calisto MT" panose="02040603050505030304"/>
              <a:cs typeface="Arial"/>
            </a:endParaRPr>
          </a:p>
          <a:p>
            <a:r>
              <a:rPr lang="en-US" dirty="0">
                <a:latin typeface="Arial"/>
                <a:cs typeface="Arial"/>
              </a:rPr>
              <a:t>       popular cuisines, and pricing strategies.</a:t>
            </a:r>
            <a:endParaRPr lang="en-US" dirty="0"/>
          </a:p>
          <a:p>
            <a:pPr marL="285750" indent="-285750">
              <a:buFont typeface="Arial"/>
              <a:buChar char="•"/>
            </a:pPr>
            <a:r>
              <a:rPr lang="en-US" b="1" dirty="0">
                <a:latin typeface="Arial"/>
                <a:cs typeface="Arial"/>
              </a:rPr>
              <a:t> Inform Expansion Strategy: </a:t>
            </a:r>
            <a:r>
              <a:rPr lang="en-US" dirty="0">
                <a:latin typeface="Arial"/>
                <a:cs typeface="Arial"/>
              </a:rPr>
              <a:t>Location data and restaurant density</a:t>
            </a:r>
            <a:endParaRPr lang="en-US" dirty="0">
              <a:latin typeface="Calisto MT" panose="02040603050505030304"/>
              <a:cs typeface="Arial"/>
            </a:endParaRPr>
          </a:p>
          <a:p>
            <a:r>
              <a:rPr lang="en-US" dirty="0">
                <a:latin typeface="Arial"/>
                <a:cs typeface="Arial"/>
              </a:rPr>
              <a:t>       help identify areas for expansion.</a:t>
            </a:r>
            <a:endParaRPr lang="en-US" dirty="0"/>
          </a:p>
          <a:p>
            <a:pPr marL="285750" indent="-285750">
              <a:buFont typeface="Arial"/>
              <a:buChar char="•"/>
            </a:pPr>
            <a:r>
              <a:rPr lang="en-US" b="1" dirty="0">
                <a:latin typeface="Arial"/>
                <a:cs typeface="Arial"/>
              </a:rPr>
              <a:t> Understand Customer Behavior:</a:t>
            </a:r>
            <a:r>
              <a:rPr lang="en-US" dirty="0">
                <a:latin typeface="Arial"/>
                <a:cs typeface="Arial"/>
              </a:rPr>
              <a:t> Review data and ratings</a:t>
            </a:r>
            <a:endParaRPr lang="en-US" dirty="0">
              <a:latin typeface="Calisto MT" panose="02040603050505030304"/>
              <a:cs typeface="Arial"/>
            </a:endParaRPr>
          </a:p>
          <a:p>
            <a:r>
              <a:rPr lang="en-US" dirty="0">
                <a:latin typeface="Arial"/>
                <a:cs typeface="Arial"/>
              </a:rPr>
              <a:t>       provide insights into customer preferences and satisfaction.</a:t>
            </a:r>
            <a:endParaRPr lang="en-US" dirty="0"/>
          </a:p>
          <a:p>
            <a:pPr marL="285750" indent="-285750">
              <a:buFont typeface="Arial"/>
              <a:buChar char="•"/>
            </a:pPr>
            <a:r>
              <a:rPr lang="en-US" b="1" dirty="0">
                <a:latin typeface="Arial"/>
                <a:cs typeface="Arial"/>
              </a:rPr>
              <a:t> Competitor Analysis:</a:t>
            </a:r>
            <a:r>
              <a:rPr lang="en-US" dirty="0">
                <a:latin typeface="Arial"/>
                <a:cs typeface="Arial"/>
              </a:rPr>
              <a:t> Data on restaurants, pricing, and services</a:t>
            </a:r>
            <a:endParaRPr lang="en-US" dirty="0">
              <a:latin typeface="Calisto MT" panose="02040603050505030304"/>
              <a:cs typeface="Arial"/>
            </a:endParaRPr>
          </a:p>
          <a:p>
            <a:r>
              <a:rPr lang="en-US" dirty="0">
                <a:latin typeface="Arial"/>
                <a:cs typeface="Arial"/>
              </a:rPr>
              <a:t>       enables competitor analysis and benchmarking.</a:t>
            </a:r>
            <a:endParaRPr lang="en-US" dirty="0"/>
          </a:p>
          <a:p>
            <a:pPr marL="285750" indent="-285750">
              <a:buFont typeface="Arial"/>
              <a:buChar char="•"/>
            </a:pPr>
            <a:r>
              <a:rPr lang="en-US" dirty="0">
                <a:latin typeface="Arial"/>
                <a:cs typeface="Arial"/>
              </a:rPr>
              <a:t> </a:t>
            </a:r>
            <a:r>
              <a:rPr lang="en-US" b="1" dirty="0">
                <a:latin typeface="Arial"/>
                <a:cs typeface="Arial"/>
              </a:rPr>
              <a:t>Optimize Operations: </a:t>
            </a:r>
            <a:r>
              <a:rPr lang="en-US" dirty="0">
                <a:latin typeface="Arial"/>
                <a:cs typeface="Arial"/>
              </a:rPr>
              <a:t>Data on delivery options, table booking,</a:t>
            </a:r>
            <a:endParaRPr lang="en-US" dirty="0">
              <a:latin typeface="Calisto MT" panose="02040603050505030304"/>
              <a:cs typeface="Arial"/>
            </a:endParaRPr>
          </a:p>
          <a:p>
            <a:r>
              <a:rPr lang="en-US" dirty="0">
                <a:latin typeface="Arial"/>
                <a:cs typeface="Arial"/>
              </a:rPr>
              <a:t>       and pricing helps optimize restaurant operations and services.</a:t>
            </a:r>
            <a:endParaRPr lang="en-US" dirty="0"/>
          </a:p>
          <a:p>
            <a:br>
              <a:rPr lang="en-US" dirty="0"/>
            </a:br>
            <a:endParaRPr lang="en-US" dirty="0"/>
          </a:p>
        </p:txBody>
      </p:sp>
      <p:pic>
        <p:nvPicPr>
          <p:cNvPr id="6" name="Graphic 5" descr="Question mark with solid fill">
            <a:extLst>
              <a:ext uri="{FF2B5EF4-FFF2-40B4-BE49-F238E27FC236}">
                <a16:creationId xmlns:a16="http://schemas.microsoft.com/office/drawing/2014/main" id="{4A8FA73D-05F1-8702-9690-8E4B95D263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7367" y="2310443"/>
            <a:ext cx="2639682" cy="2855342"/>
          </a:xfrm>
          <a:prstGeom prst="rect">
            <a:avLst/>
          </a:prstGeom>
        </p:spPr>
      </p:pic>
      <p:sp>
        <p:nvSpPr>
          <p:cNvPr id="7" name="TextBox 6">
            <a:extLst>
              <a:ext uri="{FF2B5EF4-FFF2-40B4-BE49-F238E27FC236}">
                <a16:creationId xmlns:a16="http://schemas.microsoft.com/office/drawing/2014/main" id="{E81930D5-5AD8-FDB3-3861-B3DEC7EF455E}"/>
              </a:ext>
            </a:extLst>
          </p:cNvPr>
          <p:cNvSpPr txBox="1"/>
          <p:nvPr/>
        </p:nvSpPr>
        <p:spPr>
          <a:xfrm>
            <a:off x="2742821" y="1063736"/>
            <a:ext cx="7372709"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tx2"/>
                </a:solidFill>
                <a:latin typeface="Arial"/>
                <a:cs typeface="Arial"/>
              </a:rPr>
              <a:t>Why This Data is Critical</a:t>
            </a:r>
            <a:endParaRPr lang="en-US" sz="4000">
              <a:solidFill>
                <a:schemeClr val="tx2"/>
              </a:solidFill>
            </a:endParaRPr>
          </a:p>
          <a:p>
            <a:endParaRPr lang="en-US" sz="6600" dirty="0">
              <a:solidFill>
                <a:schemeClr val="tx2"/>
              </a:solidFill>
            </a:endParaRPr>
          </a:p>
        </p:txBody>
      </p:sp>
    </p:spTree>
    <p:extLst>
      <p:ext uri="{BB962C8B-B14F-4D97-AF65-F5344CB8AC3E}">
        <p14:creationId xmlns:p14="http://schemas.microsoft.com/office/powerpoint/2010/main" val="1300109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41F7D9-CB4E-5332-273F-3B70A0D668E2}"/>
              </a:ext>
            </a:extLst>
          </p:cNvPr>
          <p:cNvSpPr>
            <a:spLocks noGrp="1"/>
          </p:cNvSpPr>
          <p:nvPr>
            <p:ph type="dt" sz="half" idx="10"/>
          </p:nvPr>
        </p:nvSpPr>
        <p:spPr/>
        <p:txBody>
          <a:bodyPr/>
          <a:lstStyle/>
          <a:p>
            <a:fld id="{96D83557-09A8-4C24-9F02-BE9C78E9222B}" type="datetime1">
              <a:t>2/2/2025</a:t>
            </a:fld>
            <a:endParaRPr lang="en-US" dirty="0"/>
          </a:p>
        </p:txBody>
      </p:sp>
      <p:sp>
        <p:nvSpPr>
          <p:cNvPr id="3" name="Footer Placeholder 2">
            <a:extLst>
              <a:ext uri="{FF2B5EF4-FFF2-40B4-BE49-F238E27FC236}">
                <a16:creationId xmlns:a16="http://schemas.microsoft.com/office/drawing/2014/main" id="{1B2DE49A-F8B0-5A16-A1D1-CF3DB658DFAB}"/>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098AE7CE-CEF3-52B1-3DFD-A5454EC2F817}"/>
              </a:ext>
            </a:extLst>
          </p:cNvPr>
          <p:cNvSpPr>
            <a:spLocks noGrp="1"/>
          </p:cNvSpPr>
          <p:nvPr>
            <p:ph type="sldNum" sz="quarter" idx="12"/>
          </p:nvPr>
        </p:nvSpPr>
        <p:spPr/>
        <p:txBody>
          <a:bodyPr/>
          <a:lstStyle/>
          <a:p>
            <a:fld id="{E30AF5A0-43BB-4336-8627-9123B9144D80}" type="slidenum">
              <a:rPr lang="en-US" dirty="0"/>
              <a:t>6</a:t>
            </a:fld>
            <a:endParaRPr lang="en-US" dirty="0"/>
          </a:p>
        </p:txBody>
      </p:sp>
      <p:pic>
        <p:nvPicPr>
          <p:cNvPr id="5" name="Graphic 4" descr="Tools with solid fill">
            <a:extLst>
              <a:ext uri="{FF2B5EF4-FFF2-40B4-BE49-F238E27FC236}">
                <a16:creationId xmlns:a16="http://schemas.microsoft.com/office/drawing/2014/main" id="{6FC9B017-F8E1-1E90-1D9E-1EF46E4A61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23139" y="1879121"/>
            <a:ext cx="971910" cy="971910"/>
          </a:xfrm>
          <a:prstGeom prst="rect">
            <a:avLst/>
          </a:prstGeom>
        </p:spPr>
      </p:pic>
      <p:pic>
        <p:nvPicPr>
          <p:cNvPr id="6" name="Graphic 5" descr="Large paint brush with solid fill">
            <a:extLst>
              <a:ext uri="{FF2B5EF4-FFF2-40B4-BE49-F238E27FC236}">
                <a16:creationId xmlns:a16="http://schemas.microsoft.com/office/drawing/2014/main" id="{40BCE4BB-7FFD-4F73-3C0D-637EBF884E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2241" y="3919808"/>
            <a:ext cx="957532" cy="1015042"/>
          </a:xfrm>
          <a:prstGeom prst="rect">
            <a:avLst/>
          </a:prstGeom>
        </p:spPr>
      </p:pic>
      <p:pic>
        <p:nvPicPr>
          <p:cNvPr id="7" name="Graphic 6" descr="Gears with solid fill">
            <a:extLst>
              <a:ext uri="{FF2B5EF4-FFF2-40B4-BE49-F238E27FC236}">
                <a16:creationId xmlns:a16="http://schemas.microsoft.com/office/drawing/2014/main" id="{F60B7C91-6F65-5B5B-3DDB-11EC5E5903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99003" y="2840607"/>
            <a:ext cx="1144438" cy="1000664"/>
          </a:xfrm>
          <a:prstGeom prst="rect">
            <a:avLst/>
          </a:prstGeom>
        </p:spPr>
      </p:pic>
      <p:pic>
        <p:nvPicPr>
          <p:cNvPr id="8" name="Graphic 7" descr="Single gear with solid fill">
            <a:extLst>
              <a:ext uri="{FF2B5EF4-FFF2-40B4-BE49-F238E27FC236}">
                <a16:creationId xmlns:a16="http://schemas.microsoft.com/office/drawing/2014/main" id="{F8D5F606-A68B-076A-97A1-6871756360D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98105" y="4608123"/>
            <a:ext cx="1101306" cy="1115683"/>
          </a:xfrm>
          <a:prstGeom prst="rect">
            <a:avLst/>
          </a:prstGeom>
        </p:spPr>
      </p:pic>
      <p:sp>
        <p:nvSpPr>
          <p:cNvPr id="10" name="TextBox 9">
            <a:extLst>
              <a:ext uri="{FF2B5EF4-FFF2-40B4-BE49-F238E27FC236}">
                <a16:creationId xmlns:a16="http://schemas.microsoft.com/office/drawing/2014/main" id="{24D1B5D7-4BF0-057A-FF12-568F7EA9E9C3}"/>
              </a:ext>
            </a:extLst>
          </p:cNvPr>
          <p:cNvSpPr txBox="1"/>
          <p:nvPr/>
        </p:nvSpPr>
        <p:spPr>
          <a:xfrm>
            <a:off x="2577626" y="775401"/>
            <a:ext cx="919160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Nunito"/>
              </a:rPr>
              <a:t>Analytical Approach and Tools</a:t>
            </a:r>
            <a:endParaRPr lang="en-US" sz="3200" dirty="0"/>
          </a:p>
        </p:txBody>
      </p:sp>
      <p:sp>
        <p:nvSpPr>
          <p:cNvPr id="16" name="TextBox 15">
            <a:extLst>
              <a:ext uri="{FF2B5EF4-FFF2-40B4-BE49-F238E27FC236}">
                <a16:creationId xmlns:a16="http://schemas.microsoft.com/office/drawing/2014/main" id="{90022302-8C90-D2FE-7C13-354A54904975}"/>
              </a:ext>
            </a:extLst>
          </p:cNvPr>
          <p:cNvSpPr txBox="1"/>
          <p:nvPr/>
        </p:nvSpPr>
        <p:spPr>
          <a:xfrm>
            <a:off x="418983" y="1884498"/>
            <a:ext cx="4676618" cy="35702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a:buChar char="o"/>
            </a:pPr>
            <a:r>
              <a:rPr lang="en-US" dirty="0">
                <a:latin typeface="Arial"/>
                <a:cs typeface="Arial"/>
              </a:rPr>
              <a:t>Data Enrichment: Enhanced</a:t>
            </a:r>
            <a:endParaRPr lang="en-US" dirty="0"/>
          </a:p>
          <a:p>
            <a:r>
              <a:rPr lang="en-US" dirty="0">
                <a:latin typeface="Arial"/>
                <a:cs typeface="Arial"/>
              </a:rPr>
              <a:t>    the dataset with country name using  </a:t>
            </a:r>
            <a:endParaRPr lang="en-US" dirty="0">
              <a:latin typeface="Calisto MT" panose="02040603050505030304"/>
              <a:cs typeface="Arial"/>
            </a:endParaRPr>
          </a:p>
          <a:p>
            <a:r>
              <a:rPr lang="en-US" dirty="0">
                <a:latin typeface="Arial"/>
                <a:cs typeface="Arial"/>
              </a:rPr>
              <a:t>    VLOOKUP,</a:t>
            </a:r>
            <a:endParaRPr lang="en-US" dirty="0"/>
          </a:p>
          <a:p>
            <a:r>
              <a:rPr lang="en-US" dirty="0">
                <a:latin typeface="Arial"/>
                <a:cs typeface="Arial"/>
              </a:rPr>
              <a:t>    extracted year from date and currency</a:t>
            </a:r>
            <a:endParaRPr lang="en-US" dirty="0">
              <a:latin typeface="Calisto MT" panose="02040603050505030304"/>
              <a:cs typeface="Arial"/>
            </a:endParaRPr>
          </a:p>
          <a:p>
            <a:r>
              <a:rPr lang="en-US" dirty="0">
                <a:latin typeface="Arial"/>
                <a:cs typeface="Arial"/>
              </a:rPr>
              <a:t>    symbol from currency.</a:t>
            </a:r>
            <a:endParaRPr lang="en-US" dirty="0"/>
          </a:p>
          <a:p>
            <a:pPr marL="285750" indent="-285750">
              <a:buFont typeface="Courier New"/>
              <a:buChar char="o"/>
            </a:pPr>
            <a:r>
              <a:rPr lang="en-US" dirty="0">
                <a:latin typeface="Arial"/>
                <a:cs typeface="Arial"/>
              </a:rPr>
              <a:t>Trend Analysis: Identified patterns and trends in customer reviews, ratings, and restaurant characteristics.</a:t>
            </a:r>
            <a:endParaRPr lang="en-US" dirty="0"/>
          </a:p>
          <a:p>
            <a:pPr marL="285750" indent="-285750">
              <a:buFont typeface="Courier New"/>
              <a:buChar char="o"/>
            </a:pPr>
            <a:r>
              <a:rPr lang="en-US" dirty="0">
                <a:latin typeface="Arial"/>
                <a:cs typeface="Arial"/>
              </a:rPr>
              <a:t>Correlation Analysis: Examined relationships between variables (e.g., price range and customer satisfaction).</a:t>
            </a:r>
            <a:endParaRPr lang="en-US"/>
          </a:p>
          <a:p>
            <a:pPr algn="l"/>
            <a:endParaRPr lang="en-US" sz="2800" dirty="0"/>
          </a:p>
        </p:txBody>
      </p:sp>
      <p:sp>
        <p:nvSpPr>
          <p:cNvPr id="17" name="TextBox 16">
            <a:extLst>
              <a:ext uri="{FF2B5EF4-FFF2-40B4-BE49-F238E27FC236}">
                <a16:creationId xmlns:a16="http://schemas.microsoft.com/office/drawing/2014/main" id="{93652CD8-2F30-D627-F08B-4C029B1CA693}"/>
              </a:ext>
            </a:extLst>
          </p:cNvPr>
          <p:cNvSpPr txBox="1"/>
          <p:nvPr/>
        </p:nvSpPr>
        <p:spPr>
          <a:xfrm>
            <a:off x="8156626" y="1635489"/>
            <a:ext cx="361445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a:buChar char="o"/>
            </a:pPr>
            <a:r>
              <a:rPr lang="en-US" dirty="0">
                <a:latin typeface="Arial"/>
                <a:cs typeface="Arial"/>
              </a:rPr>
              <a:t>Highlighted rows where newer restaurants can be open using Conditional formatting.</a:t>
            </a:r>
            <a:endParaRPr lang="en-US" dirty="0"/>
          </a:p>
          <a:p>
            <a:pPr marL="285750" indent="-285750">
              <a:buFont typeface="Courier New"/>
              <a:buChar char="o"/>
            </a:pPr>
            <a:r>
              <a:rPr lang="en-US" dirty="0">
                <a:latin typeface="Arial"/>
                <a:cs typeface="Arial"/>
              </a:rPr>
              <a:t>Descriptive Analysis: Made pivot tables for identifying the distribution of restaurants across different regions, popular cuisines , ratings and average dining cost for two people in different regions.</a:t>
            </a:r>
            <a:endParaRPr lang="en-US"/>
          </a:p>
          <a:p>
            <a:pPr marL="285750" indent="-285750">
              <a:buFont typeface="Courier New"/>
              <a:buChar char="o"/>
            </a:pPr>
            <a:r>
              <a:rPr lang="en-US" dirty="0">
                <a:latin typeface="Arial"/>
                <a:cs typeface="Arial"/>
              </a:rPr>
              <a:t>Visualization: Created dynamic charts and dashboard for data representation, enabling interactive data exploration.</a:t>
            </a:r>
            <a:endParaRPr lang="en-US"/>
          </a:p>
          <a:p>
            <a:pPr algn="l"/>
            <a:endParaRPr lang="en-US" sz="2800" dirty="0"/>
          </a:p>
        </p:txBody>
      </p:sp>
    </p:spTree>
    <p:extLst>
      <p:ext uri="{BB962C8B-B14F-4D97-AF65-F5344CB8AC3E}">
        <p14:creationId xmlns:p14="http://schemas.microsoft.com/office/powerpoint/2010/main" val="4262185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58AAD8-5E57-E16B-E292-BA1602E6E212}"/>
              </a:ext>
            </a:extLst>
          </p:cNvPr>
          <p:cNvSpPr>
            <a:spLocks noGrp="1"/>
          </p:cNvSpPr>
          <p:nvPr>
            <p:ph type="dt" sz="half" idx="10"/>
          </p:nvPr>
        </p:nvSpPr>
        <p:spPr/>
        <p:txBody>
          <a:bodyPr/>
          <a:lstStyle/>
          <a:p>
            <a:fld id="{E86478F9-F3A4-4883-BCE2-6CC8525132CF}" type="datetime1">
              <a:t>2/2/2025</a:t>
            </a:fld>
            <a:endParaRPr lang="en-US" dirty="0"/>
          </a:p>
        </p:txBody>
      </p:sp>
      <p:sp>
        <p:nvSpPr>
          <p:cNvPr id="3" name="Footer Placeholder 2">
            <a:extLst>
              <a:ext uri="{FF2B5EF4-FFF2-40B4-BE49-F238E27FC236}">
                <a16:creationId xmlns:a16="http://schemas.microsoft.com/office/drawing/2014/main" id="{A1C6F658-21EA-B634-9987-EFE363F29FA1}"/>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E7869FEA-D212-13B7-CE55-C6947E893A0A}"/>
              </a:ext>
            </a:extLst>
          </p:cNvPr>
          <p:cNvSpPr>
            <a:spLocks noGrp="1"/>
          </p:cNvSpPr>
          <p:nvPr>
            <p:ph type="sldNum" sz="quarter" idx="12"/>
          </p:nvPr>
        </p:nvSpPr>
        <p:spPr/>
        <p:txBody>
          <a:bodyPr/>
          <a:lstStyle/>
          <a:p>
            <a:fld id="{E30AF5A0-43BB-4336-8627-9123B9144D80}" type="slidenum">
              <a:rPr lang="en-US" dirty="0"/>
              <a:t>7</a:t>
            </a:fld>
            <a:endParaRPr lang="en-US" dirty="0"/>
          </a:p>
        </p:txBody>
      </p:sp>
      <p:sp>
        <p:nvSpPr>
          <p:cNvPr id="6" name="TextBox 5">
            <a:extLst>
              <a:ext uri="{FF2B5EF4-FFF2-40B4-BE49-F238E27FC236}">
                <a16:creationId xmlns:a16="http://schemas.microsoft.com/office/drawing/2014/main" id="{2F7EE968-4963-D0F1-4371-BFC5F4A1F260}"/>
              </a:ext>
            </a:extLst>
          </p:cNvPr>
          <p:cNvSpPr txBox="1"/>
          <p:nvPr/>
        </p:nvSpPr>
        <p:spPr>
          <a:xfrm>
            <a:off x="1340847" y="4722115"/>
            <a:ext cx="1002720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dirty="0">
                <a:latin typeface="Arial"/>
                <a:cs typeface="Arial"/>
              </a:rPr>
              <a:t>In the above chart we have different countries with the count of the restaurants.</a:t>
            </a:r>
            <a:endParaRPr lang="en-US" dirty="0"/>
          </a:p>
          <a:p>
            <a:pPr marL="285750" indent="-285750">
              <a:buFont typeface="Wingdings"/>
              <a:buChar char="Ø"/>
            </a:pPr>
            <a:r>
              <a:rPr lang="en-US" dirty="0">
                <a:latin typeface="Arial"/>
                <a:cs typeface="Arial"/>
              </a:rPr>
              <a:t>We found that India with the largest population has a large number of in it i.e.,8652 restaurants in it.</a:t>
            </a:r>
            <a:endParaRPr lang="en-US"/>
          </a:p>
          <a:p>
            <a:pPr marL="285750" indent="-285750">
              <a:buFont typeface="Wingdings"/>
              <a:buChar char="Ø"/>
            </a:pPr>
            <a:r>
              <a:rPr lang="en-US" dirty="0">
                <a:latin typeface="Arial"/>
                <a:cs typeface="Arial"/>
              </a:rPr>
              <a:t>Then comes the United States with 434 restaurants and finally third country is United Kingdom with 80 restaurants.</a:t>
            </a:r>
            <a:endParaRPr lang="en-US"/>
          </a:p>
          <a:p>
            <a:pPr algn="l"/>
            <a:endParaRPr lang="en-US" dirty="0"/>
          </a:p>
        </p:txBody>
      </p:sp>
      <p:pic>
        <p:nvPicPr>
          <p:cNvPr id="7" name="Picture 6" descr="A graph of a bar chart&#10;&#10;AI-generated content may be incorrect.">
            <a:extLst>
              <a:ext uri="{FF2B5EF4-FFF2-40B4-BE49-F238E27FC236}">
                <a16:creationId xmlns:a16="http://schemas.microsoft.com/office/drawing/2014/main" id="{24A356A0-E1EB-938F-7E76-4CE0FF97BA71}"/>
              </a:ext>
            </a:extLst>
          </p:cNvPr>
          <p:cNvPicPr>
            <a:picLocks noChangeAspect="1"/>
          </p:cNvPicPr>
          <p:nvPr/>
        </p:nvPicPr>
        <p:blipFill>
          <a:blip r:embed="rId2"/>
          <a:stretch>
            <a:fillRect/>
          </a:stretch>
        </p:blipFill>
        <p:spPr>
          <a:xfrm>
            <a:off x="1776861" y="966249"/>
            <a:ext cx="8925824" cy="3545276"/>
          </a:xfrm>
          <a:prstGeom prst="rect">
            <a:avLst/>
          </a:prstGeom>
        </p:spPr>
      </p:pic>
    </p:spTree>
    <p:extLst>
      <p:ext uri="{BB962C8B-B14F-4D97-AF65-F5344CB8AC3E}">
        <p14:creationId xmlns:p14="http://schemas.microsoft.com/office/powerpoint/2010/main" val="2790473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E1A46-675E-6D19-CEC9-28C2A31E5D8A}"/>
              </a:ext>
            </a:extLst>
          </p:cNvPr>
          <p:cNvSpPr>
            <a:spLocks noGrp="1"/>
          </p:cNvSpPr>
          <p:nvPr>
            <p:ph type="dt" sz="half" idx="10"/>
          </p:nvPr>
        </p:nvSpPr>
        <p:spPr/>
        <p:txBody>
          <a:bodyPr/>
          <a:lstStyle/>
          <a:p>
            <a:fld id="{C12EE7E4-5468-4FF1-91B2-9F4F36F7CDFE}" type="datetime1">
              <a:t>2/2/2025</a:t>
            </a:fld>
            <a:endParaRPr lang="en-US" dirty="0"/>
          </a:p>
        </p:txBody>
      </p:sp>
      <p:sp>
        <p:nvSpPr>
          <p:cNvPr id="3" name="Footer Placeholder 2">
            <a:extLst>
              <a:ext uri="{FF2B5EF4-FFF2-40B4-BE49-F238E27FC236}">
                <a16:creationId xmlns:a16="http://schemas.microsoft.com/office/drawing/2014/main" id="{974380B3-14EB-254E-6B02-47C21A6A2157}"/>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DF460E2A-C5FD-4DF0-0D2E-0F3277AF35A4}"/>
              </a:ext>
            </a:extLst>
          </p:cNvPr>
          <p:cNvSpPr>
            <a:spLocks noGrp="1"/>
          </p:cNvSpPr>
          <p:nvPr>
            <p:ph type="sldNum" sz="quarter" idx="12"/>
          </p:nvPr>
        </p:nvSpPr>
        <p:spPr/>
        <p:txBody>
          <a:bodyPr/>
          <a:lstStyle/>
          <a:p>
            <a:fld id="{E30AF5A0-43BB-4336-8627-9123B9144D80}" type="slidenum">
              <a:rPr lang="en-US" dirty="0"/>
              <a:t>8</a:t>
            </a:fld>
            <a:endParaRPr lang="en-US" dirty="0"/>
          </a:p>
        </p:txBody>
      </p:sp>
      <p:sp>
        <p:nvSpPr>
          <p:cNvPr id="6" name="TextBox 5">
            <a:extLst>
              <a:ext uri="{FF2B5EF4-FFF2-40B4-BE49-F238E27FC236}">
                <a16:creationId xmlns:a16="http://schemas.microsoft.com/office/drawing/2014/main" id="{C97927D5-1584-FDBA-FA67-3E60870D283E}"/>
              </a:ext>
            </a:extLst>
          </p:cNvPr>
          <p:cNvSpPr txBox="1"/>
          <p:nvPr/>
        </p:nvSpPr>
        <p:spPr>
          <a:xfrm>
            <a:off x="8377016" y="1560774"/>
            <a:ext cx="3575594"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dirty="0">
                <a:latin typeface="Arial"/>
                <a:cs typeface="Arial"/>
              </a:rPr>
              <a:t>In this chart we have a number of restaurants opened every year.</a:t>
            </a:r>
            <a:endParaRPr lang="en-US" sz="2000"/>
          </a:p>
          <a:p>
            <a:pPr marL="342900" indent="-342900">
              <a:buFont typeface="Wingdings"/>
              <a:buChar char="Ø"/>
            </a:pPr>
            <a:r>
              <a:rPr lang="en-US" sz="2000" dirty="0">
                <a:latin typeface="Arial"/>
                <a:cs typeface="Arial"/>
              </a:rPr>
              <a:t>We found that the largest number of restaurants opened in 2018 i.e. 1102 and then 2011 i.e.1098.</a:t>
            </a:r>
            <a:endParaRPr lang="en-US" sz="2000"/>
          </a:p>
          <a:p>
            <a:pPr marL="285750" indent="-285750">
              <a:buFont typeface="Wingdings"/>
              <a:buChar char="Ø"/>
            </a:pPr>
            <a:r>
              <a:rPr lang="en-US" sz="2000" dirty="0">
                <a:latin typeface="Arial"/>
                <a:cs typeface="Arial"/>
              </a:rPr>
              <a:t>The least number of restaurants opened in the year 2012 and 2015 i.e.1022.</a:t>
            </a:r>
            <a:endParaRPr lang="en-US" sz="2000" dirty="0"/>
          </a:p>
          <a:p>
            <a:pPr algn="l"/>
            <a:endParaRPr lang="en-US" sz="3600" dirty="0"/>
          </a:p>
        </p:txBody>
      </p:sp>
      <p:pic>
        <p:nvPicPr>
          <p:cNvPr id="7" name="Picture 6" descr="A graph of a bar chart&#10;&#10;AI-generated content may be incorrect.">
            <a:extLst>
              <a:ext uri="{FF2B5EF4-FFF2-40B4-BE49-F238E27FC236}">
                <a16:creationId xmlns:a16="http://schemas.microsoft.com/office/drawing/2014/main" id="{E82C35E0-70A0-0DA6-1245-58816013F575}"/>
              </a:ext>
            </a:extLst>
          </p:cNvPr>
          <p:cNvPicPr>
            <a:picLocks noChangeAspect="1"/>
          </p:cNvPicPr>
          <p:nvPr/>
        </p:nvPicPr>
        <p:blipFill>
          <a:blip r:embed="rId2"/>
          <a:stretch>
            <a:fillRect/>
          </a:stretch>
        </p:blipFill>
        <p:spPr>
          <a:xfrm>
            <a:off x="921858" y="1349135"/>
            <a:ext cx="6739567" cy="4015956"/>
          </a:xfrm>
          <a:prstGeom prst="rect">
            <a:avLst/>
          </a:prstGeom>
        </p:spPr>
      </p:pic>
    </p:spTree>
    <p:extLst>
      <p:ext uri="{BB962C8B-B14F-4D97-AF65-F5344CB8AC3E}">
        <p14:creationId xmlns:p14="http://schemas.microsoft.com/office/powerpoint/2010/main" val="844162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C03707-5720-C4CA-BE80-CD1B6F31BD92}"/>
              </a:ext>
            </a:extLst>
          </p:cNvPr>
          <p:cNvSpPr>
            <a:spLocks noGrp="1"/>
          </p:cNvSpPr>
          <p:nvPr>
            <p:ph type="dt" sz="half" idx="10"/>
          </p:nvPr>
        </p:nvSpPr>
        <p:spPr/>
        <p:txBody>
          <a:bodyPr/>
          <a:lstStyle/>
          <a:p>
            <a:fld id="{2409E23B-DFF2-4708-AD26-B057E09DBD46}" type="datetime1">
              <a:t>2/2/2025</a:t>
            </a:fld>
            <a:endParaRPr lang="en-US" dirty="0"/>
          </a:p>
        </p:txBody>
      </p:sp>
      <p:sp>
        <p:nvSpPr>
          <p:cNvPr id="3" name="Footer Placeholder 2">
            <a:extLst>
              <a:ext uri="{FF2B5EF4-FFF2-40B4-BE49-F238E27FC236}">
                <a16:creationId xmlns:a16="http://schemas.microsoft.com/office/drawing/2014/main" id="{BDE8BD12-A366-5479-02D1-3661F011AEA8}"/>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27FA2A2A-ED2D-8454-7016-5DE06B2F6962}"/>
              </a:ext>
            </a:extLst>
          </p:cNvPr>
          <p:cNvSpPr>
            <a:spLocks noGrp="1"/>
          </p:cNvSpPr>
          <p:nvPr>
            <p:ph type="sldNum" sz="quarter" idx="12"/>
          </p:nvPr>
        </p:nvSpPr>
        <p:spPr/>
        <p:txBody>
          <a:bodyPr/>
          <a:lstStyle/>
          <a:p>
            <a:fld id="{E30AF5A0-43BB-4336-8627-9123B9144D80}" type="slidenum">
              <a:rPr lang="en-US" dirty="0"/>
              <a:t>9</a:t>
            </a:fld>
            <a:endParaRPr lang="en-US" dirty="0"/>
          </a:p>
        </p:txBody>
      </p:sp>
      <p:sp>
        <p:nvSpPr>
          <p:cNvPr id="6" name="TextBox 5">
            <a:extLst>
              <a:ext uri="{FF2B5EF4-FFF2-40B4-BE49-F238E27FC236}">
                <a16:creationId xmlns:a16="http://schemas.microsoft.com/office/drawing/2014/main" id="{EF40AD35-7749-FE96-7127-DE43CE92C6E1}"/>
              </a:ext>
            </a:extLst>
          </p:cNvPr>
          <p:cNvSpPr txBox="1"/>
          <p:nvPr/>
        </p:nvSpPr>
        <p:spPr>
          <a:xfrm>
            <a:off x="719005" y="1102276"/>
            <a:ext cx="332297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sz="1600" dirty="0">
                <a:latin typeface="Arial"/>
                <a:cs typeface="Arial"/>
              </a:rPr>
              <a:t>In the bar chart we can see the average ratings for different countries.</a:t>
            </a:r>
            <a:endParaRPr lang="en-US" sz="1600"/>
          </a:p>
          <a:p>
            <a:pPr marL="285750" indent="-285750">
              <a:buFont typeface="Wingdings"/>
              <a:buChar char="v"/>
            </a:pPr>
            <a:r>
              <a:rPr lang="en-US" sz="1600" dirty="0">
                <a:latin typeface="Arial"/>
                <a:cs typeface="Arial"/>
              </a:rPr>
              <a:t>India is the least rated country and Philippines is the highest rated country in terms of quality of restaurants.</a:t>
            </a:r>
            <a:endParaRPr lang="en-US" sz="1600"/>
          </a:p>
          <a:p>
            <a:pPr marL="285750" indent="-285750">
              <a:buFont typeface="Wingdings"/>
              <a:buChar char="v"/>
            </a:pPr>
            <a:r>
              <a:rPr lang="en-US" sz="1600" dirty="0">
                <a:latin typeface="Arial"/>
                <a:cs typeface="Arial"/>
              </a:rPr>
              <a:t>The United States is average rated i.e.4.</a:t>
            </a:r>
            <a:endParaRPr lang="en-US" sz="1600"/>
          </a:p>
          <a:p>
            <a:pPr marL="285750" indent="-285750">
              <a:buFont typeface="Wingdings"/>
              <a:buChar char="v"/>
            </a:pPr>
            <a:r>
              <a:rPr lang="en-US" sz="1600" dirty="0">
                <a:latin typeface="Arial"/>
                <a:cs typeface="Arial"/>
              </a:rPr>
              <a:t>Clatskanie, Cochrane ,Fernley, Lakeview, Mc Millan are some few cities in the USA where company can open new restaurants because the number of restaurants in these cities is 1.Hence , competition is less and ratings are also good for USA.</a:t>
            </a:r>
            <a:endParaRPr lang="en-US" sz="1600"/>
          </a:p>
          <a:p>
            <a:pPr algn="l"/>
            <a:endParaRPr lang="en-US" dirty="0"/>
          </a:p>
        </p:txBody>
      </p:sp>
      <p:pic>
        <p:nvPicPr>
          <p:cNvPr id="5" name="Picture 4" descr="A graph with red bars&#10;&#10;AI-generated content may be incorrect.">
            <a:extLst>
              <a:ext uri="{FF2B5EF4-FFF2-40B4-BE49-F238E27FC236}">
                <a16:creationId xmlns:a16="http://schemas.microsoft.com/office/drawing/2014/main" id="{7F9B70F1-E5C4-3315-9401-0DDEB66B0584}"/>
              </a:ext>
            </a:extLst>
          </p:cNvPr>
          <p:cNvPicPr>
            <a:picLocks noChangeAspect="1"/>
          </p:cNvPicPr>
          <p:nvPr/>
        </p:nvPicPr>
        <p:blipFill>
          <a:blip r:embed="rId2"/>
          <a:stretch>
            <a:fillRect/>
          </a:stretch>
        </p:blipFill>
        <p:spPr>
          <a:xfrm>
            <a:off x="4459227" y="1103462"/>
            <a:ext cx="6637846" cy="4349152"/>
          </a:xfrm>
          <a:prstGeom prst="rect">
            <a:avLst/>
          </a:prstGeom>
        </p:spPr>
      </p:pic>
    </p:spTree>
    <p:extLst>
      <p:ext uri="{BB962C8B-B14F-4D97-AF65-F5344CB8AC3E}">
        <p14:creationId xmlns:p14="http://schemas.microsoft.com/office/powerpoint/2010/main" val="25476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FD2081-71D8-552F-AAEC-035E2AF4E19D}"/>
              </a:ext>
            </a:extLst>
          </p:cNvPr>
          <p:cNvSpPr>
            <a:spLocks noGrp="1"/>
          </p:cNvSpPr>
          <p:nvPr>
            <p:ph type="dt" sz="half" idx="10"/>
          </p:nvPr>
        </p:nvSpPr>
        <p:spPr/>
        <p:txBody>
          <a:bodyPr/>
          <a:lstStyle/>
          <a:p>
            <a:fld id="{0386FC6E-6EF2-4D6A-A7C0-9BC79BFD3C9E}" type="datetime1">
              <a:t>2/2/2025</a:t>
            </a:fld>
            <a:endParaRPr lang="en-US" dirty="0"/>
          </a:p>
        </p:txBody>
      </p:sp>
      <p:sp>
        <p:nvSpPr>
          <p:cNvPr id="3" name="Footer Placeholder 2">
            <a:extLst>
              <a:ext uri="{FF2B5EF4-FFF2-40B4-BE49-F238E27FC236}">
                <a16:creationId xmlns:a16="http://schemas.microsoft.com/office/drawing/2014/main" id="{9080308E-DB29-ECFE-862A-C8652CE36D0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5A055717-C076-32CE-F9A8-A8ACE6A4A96D}"/>
              </a:ext>
            </a:extLst>
          </p:cNvPr>
          <p:cNvSpPr>
            <a:spLocks noGrp="1"/>
          </p:cNvSpPr>
          <p:nvPr>
            <p:ph type="sldNum" sz="quarter" idx="12"/>
          </p:nvPr>
        </p:nvSpPr>
        <p:spPr/>
        <p:txBody>
          <a:bodyPr/>
          <a:lstStyle/>
          <a:p>
            <a:fld id="{E30AF5A0-43BB-4336-8627-9123B9144D80}" type="slidenum">
              <a:rPr lang="en-US" dirty="0"/>
              <a:t>10</a:t>
            </a:fld>
            <a:endParaRPr lang="en-US" dirty="0"/>
          </a:p>
        </p:txBody>
      </p:sp>
      <p:sp>
        <p:nvSpPr>
          <p:cNvPr id="6" name="TextBox 5">
            <a:extLst>
              <a:ext uri="{FF2B5EF4-FFF2-40B4-BE49-F238E27FC236}">
                <a16:creationId xmlns:a16="http://schemas.microsoft.com/office/drawing/2014/main" id="{3E2DAD49-2FFF-9444-C652-47FAC8B6ACAC}"/>
              </a:ext>
            </a:extLst>
          </p:cNvPr>
          <p:cNvSpPr txBox="1"/>
          <p:nvPr/>
        </p:nvSpPr>
        <p:spPr>
          <a:xfrm>
            <a:off x="2448367" y="992637"/>
            <a:ext cx="715118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t>Cuisines to offer</a:t>
            </a:r>
            <a:endParaRPr lang="en-US"/>
          </a:p>
        </p:txBody>
      </p:sp>
      <p:pic>
        <p:nvPicPr>
          <p:cNvPr id="7" name="Graphic 6" descr="Burger and drink with solid fill">
            <a:extLst>
              <a:ext uri="{FF2B5EF4-FFF2-40B4-BE49-F238E27FC236}">
                <a16:creationId xmlns:a16="http://schemas.microsoft.com/office/drawing/2014/main" id="{30D6F31E-EF99-36B9-A76A-7AACC817D4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37895" y="786442"/>
            <a:ext cx="914400" cy="914400"/>
          </a:xfrm>
          <a:prstGeom prst="rect">
            <a:avLst/>
          </a:prstGeom>
        </p:spPr>
      </p:pic>
      <p:pic>
        <p:nvPicPr>
          <p:cNvPr id="8" name="Graphic 7" descr="Cake with solid fill">
            <a:extLst>
              <a:ext uri="{FF2B5EF4-FFF2-40B4-BE49-F238E27FC236}">
                <a16:creationId xmlns:a16="http://schemas.microsoft.com/office/drawing/2014/main" id="{17BC296F-8601-3C6E-ABC4-9F57E77D5C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25328" y="887083"/>
            <a:ext cx="914400" cy="741871"/>
          </a:xfrm>
          <a:prstGeom prst="rect">
            <a:avLst/>
          </a:prstGeom>
        </p:spPr>
      </p:pic>
      <p:sp>
        <p:nvSpPr>
          <p:cNvPr id="9" name="TextBox 8">
            <a:extLst>
              <a:ext uri="{FF2B5EF4-FFF2-40B4-BE49-F238E27FC236}">
                <a16:creationId xmlns:a16="http://schemas.microsoft.com/office/drawing/2014/main" id="{B7E35FBF-25B9-1AD4-D530-E19132905740}"/>
              </a:ext>
            </a:extLst>
          </p:cNvPr>
          <p:cNvSpPr txBox="1"/>
          <p:nvPr/>
        </p:nvSpPr>
        <p:spPr>
          <a:xfrm>
            <a:off x="7737643" y="2506339"/>
            <a:ext cx="373105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q"/>
            </a:pPr>
            <a:r>
              <a:rPr lang="en-US" sz="1600" dirty="0">
                <a:latin typeface="Arial"/>
                <a:cs typeface="Arial"/>
              </a:rPr>
              <a:t>These are the most popular top rated cuisines.</a:t>
            </a:r>
            <a:endParaRPr lang="en-US" sz="1600"/>
          </a:p>
          <a:p>
            <a:pPr marL="285750" indent="-285750">
              <a:buFont typeface="Wingdings"/>
              <a:buChar char="q"/>
            </a:pPr>
            <a:r>
              <a:rPr lang="en-US" sz="1600" dirty="0">
                <a:latin typeface="Arial"/>
                <a:cs typeface="Arial"/>
              </a:rPr>
              <a:t>People prefer American, Mexican , Burger and Sandwich. So, we should include these in our menu.</a:t>
            </a:r>
            <a:endParaRPr lang="en-US" sz="1600"/>
          </a:p>
          <a:p>
            <a:pPr algn="l"/>
            <a:endParaRPr lang="en-US" dirty="0"/>
          </a:p>
        </p:txBody>
      </p:sp>
      <p:pic>
        <p:nvPicPr>
          <p:cNvPr id="5" name="Picture 4" descr="A bar chart with text&#10;&#10;AI-generated content may be incorrect.">
            <a:extLst>
              <a:ext uri="{FF2B5EF4-FFF2-40B4-BE49-F238E27FC236}">
                <a16:creationId xmlns:a16="http://schemas.microsoft.com/office/drawing/2014/main" id="{9C4C6259-3D44-3C89-EAD4-0334BA1FC9B9}"/>
              </a:ext>
            </a:extLst>
          </p:cNvPr>
          <p:cNvPicPr>
            <a:picLocks noChangeAspect="1"/>
          </p:cNvPicPr>
          <p:nvPr/>
        </p:nvPicPr>
        <p:blipFill>
          <a:blip r:embed="rId6"/>
          <a:stretch>
            <a:fillRect/>
          </a:stretch>
        </p:blipFill>
        <p:spPr>
          <a:xfrm>
            <a:off x="1026274" y="1913266"/>
            <a:ext cx="6099414" cy="3908485"/>
          </a:xfrm>
          <a:prstGeom prst="rect">
            <a:avLst/>
          </a:prstGeom>
        </p:spPr>
      </p:pic>
    </p:spTree>
    <p:extLst>
      <p:ext uri="{BB962C8B-B14F-4D97-AF65-F5344CB8AC3E}">
        <p14:creationId xmlns:p14="http://schemas.microsoft.com/office/powerpoint/2010/main" val="3183387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2B1D5-A56D-6CBA-C8E6-6B9918BBACA8}"/>
              </a:ext>
            </a:extLst>
          </p:cNvPr>
          <p:cNvSpPr>
            <a:spLocks noGrp="1"/>
          </p:cNvSpPr>
          <p:nvPr>
            <p:ph type="dt" sz="half" idx="10"/>
          </p:nvPr>
        </p:nvSpPr>
        <p:spPr/>
        <p:txBody>
          <a:bodyPr/>
          <a:lstStyle/>
          <a:p>
            <a:fld id="{145D0EE6-7309-4F88-8F67-B14271B017C2}" type="datetime1">
              <a:t>2/2/2025</a:t>
            </a:fld>
            <a:endParaRPr lang="en-US" dirty="0"/>
          </a:p>
        </p:txBody>
      </p:sp>
      <p:sp>
        <p:nvSpPr>
          <p:cNvPr id="3" name="Footer Placeholder 2">
            <a:extLst>
              <a:ext uri="{FF2B5EF4-FFF2-40B4-BE49-F238E27FC236}">
                <a16:creationId xmlns:a16="http://schemas.microsoft.com/office/drawing/2014/main" id="{76C0C7AE-4426-6063-9DB3-5A7D80069E1D}"/>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07AFAB01-07A7-0715-2320-64E03F65F224}"/>
              </a:ext>
            </a:extLst>
          </p:cNvPr>
          <p:cNvSpPr>
            <a:spLocks noGrp="1"/>
          </p:cNvSpPr>
          <p:nvPr>
            <p:ph type="sldNum" sz="quarter" idx="12"/>
          </p:nvPr>
        </p:nvSpPr>
        <p:spPr/>
        <p:txBody>
          <a:bodyPr/>
          <a:lstStyle/>
          <a:p>
            <a:fld id="{E30AF5A0-43BB-4336-8627-9123B9144D80}" type="slidenum">
              <a:rPr lang="en-US" dirty="0"/>
              <a:t>11</a:t>
            </a:fld>
            <a:endParaRPr lang="en-US" dirty="0"/>
          </a:p>
        </p:txBody>
      </p:sp>
      <p:sp>
        <p:nvSpPr>
          <p:cNvPr id="6" name="TextBox 5">
            <a:extLst>
              <a:ext uri="{FF2B5EF4-FFF2-40B4-BE49-F238E27FC236}">
                <a16:creationId xmlns:a16="http://schemas.microsoft.com/office/drawing/2014/main" id="{6BE76C0E-3CD0-3CF0-ECAC-578CF858F530}"/>
              </a:ext>
            </a:extLst>
          </p:cNvPr>
          <p:cNvSpPr txBox="1"/>
          <p:nvPr/>
        </p:nvSpPr>
        <p:spPr>
          <a:xfrm>
            <a:off x="1884959" y="1029926"/>
            <a:ext cx="808395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chemeClr val="tx2"/>
                </a:solidFill>
              </a:rPr>
              <a:t>Should we provide table booking facility?</a:t>
            </a:r>
          </a:p>
        </p:txBody>
      </p:sp>
      <p:sp>
        <p:nvSpPr>
          <p:cNvPr id="7" name="Rectangle: Diagonal Corners Rounded 6">
            <a:extLst>
              <a:ext uri="{FF2B5EF4-FFF2-40B4-BE49-F238E27FC236}">
                <a16:creationId xmlns:a16="http://schemas.microsoft.com/office/drawing/2014/main" id="{BAEB7D3D-2F3F-CA23-5262-5298B804AF37}"/>
              </a:ext>
            </a:extLst>
          </p:cNvPr>
          <p:cNvSpPr/>
          <p:nvPr/>
        </p:nvSpPr>
        <p:spPr>
          <a:xfrm>
            <a:off x="1058218" y="1716699"/>
            <a:ext cx="4197436" cy="4003110"/>
          </a:xfrm>
          <a:prstGeom prst="round2Diag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solidFill>
                  <a:srgbClr val="00B050"/>
                </a:solidFill>
                <a:latin typeface="Arial"/>
                <a:cs typeface="Arial"/>
              </a:rPr>
              <a:t>Yes</a:t>
            </a:r>
            <a:endParaRPr lang="en-US" sz="2800" b="1" dirty="0">
              <a:solidFill>
                <a:srgbClr val="00B050"/>
              </a:solidFill>
              <a:cs typeface="Arial"/>
            </a:endParaRPr>
          </a:p>
          <a:p>
            <a:pPr algn="ctr"/>
            <a:endParaRPr lang="en-US" sz="1600" dirty="0">
              <a:solidFill>
                <a:srgbClr val="000000"/>
              </a:solidFill>
              <a:latin typeface="Arial"/>
              <a:cs typeface="Arial"/>
            </a:endParaRPr>
          </a:p>
          <a:p>
            <a:pPr marL="285750" indent="-285750">
              <a:buFont typeface="Courier New"/>
              <a:buChar char="o"/>
            </a:pPr>
            <a:r>
              <a:rPr lang="en-US" sz="1600" dirty="0">
                <a:solidFill>
                  <a:srgbClr val="000000"/>
                </a:solidFill>
                <a:latin typeface="Arial"/>
                <a:cs typeface="Arial"/>
              </a:rPr>
              <a:t>This donut-pie chart  shows the number of restaurants that provide the facility of table booking.</a:t>
            </a:r>
            <a:endParaRPr lang="en-US" sz="1600" dirty="0"/>
          </a:p>
          <a:p>
            <a:pPr marL="285750" indent="-285750">
              <a:buFont typeface="Courier New"/>
              <a:buChar char="o"/>
            </a:pPr>
            <a:r>
              <a:rPr lang="en-US" sz="1600" dirty="0">
                <a:solidFill>
                  <a:srgbClr val="000000"/>
                </a:solidFill>
                <a:latin typeface="Arial"/>
                <a:cs typeface="Arial"/>
              </a:rPr>
              <a:t>We can clearly see that very few restaurants provide the facility of table booking.</a:t>
            </a:r>
            <a:endParaRPr lang="en-US" sz="1600" dirty="0"/>
          </a:p>
          <a:p>
            <a:pPr marL="285750" indent="-285750">
              <a:buFont typeface="Courier New"/>
              <a:buChar char="o"/>
            </a:pPr>
            <a:r>
              <a:rPr lang="en-US" sz="1600" dirty="0">
                <a:solidFill>
                  <a:srgbClr val="000000"/>
                </a:solidFill>
                <a:latin typeface="Arial"/>
                <a:cs typeface="Arial"/>
              </a:rPr>
              <a:t>So, we should definitely go with table booking to get better customer feedback.</a:t>
            </a:r>
            <a:endParaRPr lang="en-US" sz="1600" dirty="0"/>
          </a:p>
          <a:p>
            <a:endParaRPr lang="en-US" sz="2400" dirty="0"/>
          </a:p>
        </p:txBody>
      </p:sp>
      <p:pic>
        <p:nvPicPr>
          <p:cNvPr id="8" name="Picture 7" descr="A red circle with numbers and a number on it&#10;&#10;AI-generated content may be incorrect.">
            <a:extLst>
              <a:ext uri="{FF2B5EF4-FFF2-40B4-BE49-F238E27FC236}">
                <a16:creationId xmlns:a16="http://schemas.microsoft.com/office/drawing/2014/main" id="{C7AF4733-E14B-E293-E71C-635168CD6D32}"/>
              </a:ext>
            </a:extLst>
          </p:cNvPr>
          <p:cNvPicPr>
            <a:picLocks noChangeAspect="1"/>
          </p:cNvPicPr>
          <p:nvPr/>
        </p:nvPicPr>
        <p:blipFill>
          <a:blip r:embed="rId2"/>
          <a:stretch>
            <a:fillRect/>
          </a:stretch>
        </p:blipFill>
        <p:spPr>
          <a:xfrm>
            <a:off x="6094023" y="1906169"/>
            <a:ext cx="4187764" cy="3060040"/>
          </a:xfrm>
          <a:prstGeom prst="rect">
            <a:avLst/>
          </a:prstGeom>
        </p:spPr>
      </p:pic>
    </p:spTree>
    <p:extLst>
      <p:ext uri="{BB962C8B-B14F-4D97-AF65-F5344CB8AC3E}">
        <p14:creationId xmlns:p14="http://schemas.microsoft.com/office/powerpoint/2010/main" val="164820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A2E9F-C058-AA1C-CCD3-9CEB1A2021AB}"/>
              </a:ext>
            </a:extLst>
          </p:cNvPr>
          <p:cNvSpPr>
            <a:spLocks noGrp="1"/>
          </p:cNvSpPr>
          <p:nvPr>
            <p:ph type="dt" sz="half" idx="10"/>
          </p:nvPr>
        </p:nvSpPr>
        <p:spPr/>
        <p:txBody>
          <a:bodyPr/>
          <a:lstStyle/>
          <a:p>
            <a:fld id="{EEB6EB6C-2438-4788-BF12-435F9ABBBF7A}" type="datetime1">
              <a:t>2/2/2025</a:t>
            </a:fld>
            <a:endParaRPr lang="en-US" dirty="0"/>
          </a:p>
        </p:txBody>
      </p:sp>
      <p:sp>
        <p:nvSpPr>
          <p:cNvPr id="3" name="Footer Placeholder 2">
            <a:extLst>
              <a:ext uri="{FF2B5EF4-FFF2-40B4-BE49-F238E27FC236}">
                <a16:creationId xmlns:a16="http://schemas.microsoft.com/office/drawing/2014/main" id="{73D0FBC2-0A40-2656-0057-9C2893660618}"/>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8D5C976A-2AC0-E2D0-AFD2-09EAC7FF5E98}"/>
              </a:ext>
            </a:extLst>
          </p:cNvPr>
          <p:cNvSpPr>
            <a:spLocks noGrp="1"/>
          </p:cNvSpPr>
          <p:nvPr>
            <p:ph type="sldNum" sz="quarter" idx="12"/>
          </p:nvPr>
        </p:nvSpPr>
        <p:spPr/>
        <p:txBody>
          <a:bodyPr/>
          <a:lstStyle/>
          <a:p>
            <a:fld id="{E30AF5A0-43BB-4336-8627-9123B9144D80}" type="slidenum">
              <a:rPr lang="en-US" dirty="0"/>
              <a:t>12</a:t>
            </a:fld>
            <a:endParaRPr lang="en-US" dirty="0"/>
          </a:p>
        </p:txBody>
      </p:sp>
      <p:sp>
        <p:nvSpPr>
          <p:cNvPr id="5" name="TextBox 4">
            <a:extLst>
              <a:ext uri="{FF2B5EF4-FFF2-40B4-BE49-F238E27FC236}">
                <a16:creationId xmlns:a16="http://schemas.microsoft.com/office/drawing/2014/main" id="{42D61E8D-63D4-E025-D045-EECA5E561A7E}"/>
              </a:ext>
            </a:extLst>
          </p:cNvPr>
          <p:cNvSpPr txBox="1"/>
          <p:nvPr/>
        </p:nvSpPr>
        <p:spPr>
          <a:xfrm>
            <a:off x="1809920" y="891997"/>
            <a:ext cx="85891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chemeClr val="tx2"/>
                </a:solidFill>
              </a:rPr>
              <a:t>Should we provide online delivery?</a:t>
            </a:r>
            <a:endParaRPr lang="en-US" b="1">
              <a:solidFill>
                <a:schemeClr val="tx2"/>
              </a:solidFill>
            </a:endParaRPr>
          </a:p>
        </p:txBody>
      </p:sp>
      <p:sp>
        <p:nvSpPr>
          <p:cNvPr id="8" name="Double Bracket 7">
            <a:extLst>
              <a:ext uri="{FF2B5EF4-FFF2-40B4-BE49-F238E27FC236}">
                <a16:creationId xmlns:a16="http://schemas.microsoft.com/office/drawing/2014/main" id="{806FE4F1-DC53-3617-5D51-6EA83F8EED84}"/>
              </a:ext>
            </a:extLst>
          </p:cNvPr>
          <p:cNvSpPr/>
          <p:nvPr/>
        </p:nvSpPr>
        <p:spPr>
          <a:xfrm>
            <a:off x="6427126" y="2800192"/>
            <a:ext cx="4955307" cy="2739993"/>
          </a:xfrm>
          <a:prstGeom prst="bracketPair">
            <a:avLst/>
          </a:prstGeom>
          <a:solidFill>
            <a:schemeClr val="bg2"/>
          </a:solidFill>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a:br>
              <a:rPr lang="en-US" dirty="0"/>
            </a:br>
            <a:endParaRPr lang="en-US" sz="2400" dirty="0"/>
          </a:p>
          <a:p>
            <a:pPr marL="285750" indent="-285750">
              <a:buFont typeface="Wingdings"/>
              <a:buChar char="Ø"/>
            </a:pPr>
            <a:r>
              <a:rPr lang="en-US" sz="1600" dirty="0">
                <a:latin typeface="Arial"/>
                <a:cs typeface="Arial"/>
              </a:rPr>
              <a:t> This pie chart  shows the number of restaurants that provide the service of online delivery.</a:t>
            </a:r>
            <a:endParaRPr lang="en-US" sz="1600"/>
          </a:p>
          <a:p>
            <a:pPr marL="285750" indent="-285750">
              <a:buFont typeface="Wingdings"/>
              <a:buChar char="Ø"/>
            </a:pPr>
            <a:r>
              <a:rPr lang="en-US" sz="1600" dirty="0">
                <a:latin typeface="Arial"/>
                <a:cs typeface="Arial"/>
              </a:rPr>
              <a:t>Out of 9551 restaurants only 2451 restaurants provide online delivery.</a:t>
            </a:r>
            <a:endParaRPr lang="en-US" sz="1600" dirty="0"/>
          </a:p>
          <a:p>
            <a:pPr marL="285750" indent="-285750">
              <a:buFont typeface="Wingdings"/>
              <a:buChar char="Ø"/>
            </a:pPr>
            <a:r>
              <a:rPr lang="en-US" sz="1600" dirty="0">
                <a:latin typeface="Arial"/>
                <a:cs typeface="Arial"/>
              </a:rPr>
              <a:t>Based on this analysis , we should go with online delivery to get better customer reviews and ratings.</a:t>
            </a:r>
            <a:endParaRPr lang="en-US" sz="1600"/>
          </a:p>
          <a:p>
            <a:pPr algn="ctr"/>
            <a:endParaRPr lang="en-US" sz="2400" dirty="0"/>
          </a:p>
        </p:txBody>
      </p:sp>
      <p:sp>
        <p:nvSpPr>
          <p:cNvPr id="9" name="Callout: Down Arrow 8">
            <a:extLst>
              <a:ext uri="{FF2B5EF4-FFF2-40B4-BE49-F238E27FC236}">
                <a16:creationId xmlns:a16="http://schemas.microsoft.com/office/drawing/2014/main" id="{22892EBC-644B-AB74-763B-EF4F473B396D}"/>
              </a:ext>
            </a:extLst>
          </p:cNvPr>
          <p:cNvSpPr/>
          <p:nvPr/>
        </p:nvSpPr>
        <p:spPr>
          <a:xfrm>
            <a:off x="8026304" y="1930781"/>
            <a:ext cx="1748931" cy="855033"/>
          </a:xfrm>
          <a:prstGeom prst="downArrowCallou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Yes</a:t>
            </a:r>
          </a:p>
        </p:txBody>
      </p:sp>
      <p:pic>
        <p:nvPicPr>
          <p:cNvPr id="7" name="Picture 6" descr="A pie chart with numbers and a number&#10;&#10;AI-generated content may be incorrect.">
            <a:extLst>
              <a:ext uri="{FF2B5EF4-FFF2-40B4-BE49-F238E27FC236}">
                <a16:creationId xmlns:a16="http://schemas.microsoft.com/office/drawing/2014/main" id="{FF034082-7B84-803F-3475-EF0C17DA8F75}"/>
              </a:ext>
            </a:extLst>
          </p:cNvPr>
          <p:cNvPicPr>
            <a:picLocks noChangeAspect="1"/>
          </p:cNvPicPr>
          <p:nvPr/>
        </p:nvPicPr>
        <p:blipFill>
          <a:blip r:embed="rId2"/>
          <a:stretch>
            <a:fillRect/>
          </a:stretch>
        </p:blipFill>
        <p:spPr>
          <a:xfrm>
            <a:off x="1507376" y="2150584"/>
            <a:ext cx="3512568" cy="2973776"/>
          </a:xfrm>
          <a:prstGeom prst="rect">
            <a:avLst/>
          </a:prstGeom>
        </p:spPr>
      </p:pic>
    </p:spTree>
    <p:extLst>
      <p:ext uri="{BB962C8B-B14F-4D97-AF65-F5344CB8AC3E}">
        <p14:creationId xmlns:p14="http://schemas.microsoft.com/office/powerpoint/2010/main" val="61130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868D0F-B382-057F-D6CF-80D167FAE959}"/>
              </a:ext>
            </a:extLst>
          </p:cNvPr>
          <p:cNvSpPr>
            <a:spLocks noGrp="1"/>
          </p:cNvSpPr>
          <p:nvPr>
            <p:ph type="dt" sz="half" idx="10"/>
          </p:nvPr>
        </p:nvSpPr>
        <p:spPr/>
        <p:txBody>
          <a:bodyPr/>
          <a:lstStyle/>
          <a:p>
            <a:fld id="{B49B763E-F85E-4A9D-B078-1EB0A7226E54}" type="datetime1">
              <a:t>2/2/2025</a:t>
            </a:fld>
            <a:endParaRPr lang="en-US" dirty="0"/>
          </a:p>
        </p:txBody>
      </p:sp>
      <p:sp>
        <p:nvSpPr>
          <p:cNvPr id="3" name="Footer Placeholder 2">
            <a:extLst>
              <a:ext uri="{FF2B5EF4-FFF2-40B4-BE49-F238E27FC236}">
                <a16:creationId xmlns:a16="http://schemas.microsoft.com/office/drawing/2014/main" id="{EB638282-0982-83BC-37B8-DE128F85EB6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86F64967-5EF0-7B7B-0CAC-9187AAB1B45B}"/>
              </a:ext>
            </a:extLst>
          </p:cNvPr>
          <p:cNvSpPr>
            <a:spLocks noGrp="1"/>
          </p:cNvSpPr>
          <p:nvPr>
            <p:ph type="sldNum" sz="quarter" idx="12"/>
          </p:nvPr>
        </p:nvSpPr>
        <p:spPr/>
        <p:txBody>
          <a:bodyPr/>
          <a:lstStyle/>
          <a:p>
            <a:fld id="{E30AF5A0-43BB-4336-8627-9123B9144D80}" type="slidenum">
              <a:rPr lang="en-US" dirty="0"/>
              <a:t>13</a:t>
            </a:fld>
            <a:endParaRPr lang="en-US" dirty="0"/>
          </a:p>
        </p:txBody>
      </p:sp>
      <p:sp>
        <p:nvSpPr>
          <p:cNvPr id="6" name="TextBox 5">
            <a:extLst>
              <a:ext uri="{FF2B5EF4-FFF2-40B4-BE49-F238E27FC236}">
                <a16:creationId xmlns:a16="http://schemas.microsoft.com/office/drawing/2014/main" id="{02DF792B-6020-B857-4A48-5F3228C7FCB3}"/>
              </a:ext>
            </a:extLst>
          </p:cNvPr>
          <p:cNvSpPr txBox="1"/>
          <p:nvPr/>
        </p:nvSpPr>
        <p:spPr>
          <a:xfrm>
            <a:off x="2304156" y="1127032"/>
            <a:ext cx="68122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chemeClr val="tx2"/>
                </a:solidFill>
              </a:rPr>
              <a:t>Ratings according to price</a:t>
            </a:r>
            <a:endParaRPr lang="en-US"/>
          </a:p>
        </p:txBody>
      </p:sp>
      <p:sp>
        <p:nvSpPr>
          <p:cNvPr id="7" name="Scroll: Vertical 6">
            <a:extLst>
              <a:ext uri="{FF2B5EF4-FFF2-40B4-BE49-F238E27FC236}">
                <a16:creationId xmlns:a16="http://schemas.microsoft.com/office/drawing/2014/main" id="{F818A04F-AF25-23E5-4FF7-901CF02E2893}"/>
              </a:ext>
            </a:extLst>
          </p:cNvPr>
          <p:cNvSpPr/>
          <p:nvPr/>
        </p:nvSpPr>
        <p:spPr>
          <a:xfrm>
            <a:off x="7994868" y="1988193"/>
            <a:ext cx="3826694" cy="3826694"/>
          </a:xfrm>
          <a:prstGeom prst="verticalScroll">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Wingdings"/>
              <a:buChar char="§"/>
            </a:pPr>
            <a:r>
              <a:rPr lang="en-US" sz="1600" dirty="0">
                <a:solidFill>
                  <a:srgbClr val="000000"/>
                </a:solidFill>
                <a:latin typeface="Arial"/>
                <a:cs typeface="Arial"/>
              </a:rPr>
              <a:t>This chart represents the average rating based on the price range  in different countries.</a:t>
            </a:r>
            <a:endParaRPr lang="en-US" sz="1600"/>
          </a:p>
          <a:p>
            <a:pPr marL="285750" indent="-285750">
              <a:buFont typeface="Wingdings"/>
              <a:buChar char="§"/>
            </a:pPr>
            <a:r>
              <a:rPr lang="en-US" sz="1600" dirty="0">
                <a:solidFill>
                  <a:srgbClr val="000000"/>
                </a:solidFill>
                <a:latin typeface="Arial"/>
                <a:cs typeface="Arial"/>
              </a:rPr>
              <a:t>Ratings are lower for the cheapest restaurants.</a:t>
            </a:r>
            <a:endParaRPr lang="en-US" sz="1600"/>
          </a:p>
          <a:p>
            <a:pPr marL="285750" indent="-285750">
              <a:buFont typeface="Wingdings"/>
              <a:buChar char="§"/>
            </a:pPr>
            <a:r>
              <a:rPr lang="en-US" sz="1600" dirty="0">
                <a:solidFill>
                  <a:srgbClr val="000000"/>
                </a:solidFill>
                <a:latin typeface="Arial"/>
                <a:cs typeface="Arial"/>
              </a:rPr>
              <a:t>The highest rating is 3.9 for the price range 4 and 3.7 for price range 3.</a:t>
            </a:r>
          </a:p>
          <a:p>
            <a:pPr algn="ctr"/>
            <a:endParaRPr lang="en-US" dirty="0"/>
          </a:p>
        </p:txBody>
      </p:sp>
      <p:pic>
        <p:nvPicPr>
          <p:cNvPr id="5" name="Picture 4">
            <a:extLst>
              <a:ext uri="{FF2B5EF4-FFF2-40B4-BE49-F238E27FC236}">
                <a16:creationId xmlns:a16="http://schemas.microsoft.com/office/drawing/2014/main" id="{A29BDF62-C2B6-E7E4-26E5-2D8B4C7876A0}"/>
              </a:ext>
            </a:extLst>
          </p:cNvPr>
          <p:cNvPicPr>
            <a:picLocks noChangeAspect="1"/>
          </p:cNvPicPr>
          <p:nvPr/>
        </p:nvPicPr>
        <p:blipFill>
          <a:blip r:embed="rId2"/>
          <a:stretch>
            <a:fillRect/>
          </a:stretch>
        </p:blipFill>
        <p:spPr>
          <a:xfrm>
            <a:off x="1504950" y="1988570"/>
            <a:ext cx="5760288" cy="3197164"/>
          </a:xfrm>
          <a:prstGeom prst="rect">
            <a:avLst/>
          </a:prstGeom>
        </p:spPr>
      </p:pic>
    </p:spTree>
    <p:extLst>
      <p:ext uri="{BB962C8B-B14F-4D97-AF65-F5344CB8AC3E}">
        <p14:creationId xmlns:p14="http://schemas.microsoft.com/office/powerpoint/2010/main" val="211296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33B1E0-8F8C-B009-E09F-17B40193D3E5}"/>
              </a:ext>
            </a:extLst>
          </p:cNvPr>
          <p:cNvSpPr>
            <a:spLocks noGrp="1"/>
          </p:cNvSpPr>
          <p:nvPr>
            <p:ph type="dt" sz="half" idx="10"/>
          </p:nvPr>
        </p:nvSpPr>
        <p:spPr/>
        <p:txBody>
          <a:bodyPr/>
          <a:lstStyle/>
          <a:p>
            <a:fld id="{5A1A9137-BA2C-46B3-AFFF-0F881ECB3B2D}" type="datetime1">
              <a:t>2/2/2025</a:t>
            </a:fld>
            <a:endParaRPr lang="en-US" dirty="0"/>
          </a:p>
        </p:txBody>
      </p:sp>
      <p:sp>
        <p:nvSpPr>
          <p:cNvPr id="3" name="Footer Placeholder 2">
            <a:extLst>
              <a:ext uri="{FF2B5EF4-FFF2-40B4-BE49-F238E27FC236}">
                <a16:creationId xmlns:a16="http://schemas.microsoft.com/office/drawing/2014/main" id="{66C49BD1-E499-8079-752D-B128DC32EF8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C830E65E-75F1-9396-2329-F263AC92BF02}"/>
              </a:ext>
            </a:extLst>
          </p:cNvPr>
          <p:cNvSpPr>
            <a:spLocks noGrp="1"/>
          </p:cNvSpPr>
          <p:nvPr>
            <p:ph type="sldNum" sz="quarter" idx="12"/>
          </p:nvPr>
        </p:nvSpPr>
        <p:spPr/>
        <p:txBody>
          <a:bodyPr/>
          <a:lstStyle/>
          <a:p>
            <a:fld id="{E30AF5A0-43BB-4336-8627-9123B9144D80}" type="slidenum">
              <a:rPr lang="en-US" dirty="0"/>
              <a:t>14</a:t>
            </a:fld>
            <a:endParaRPr lang="en-US" dirty="0"/>
          </a:p>
        </p:txBody>
      </p:sp>
      <p:sp>
        <p:nvSpPr>
          <p:cNvPr id="5" name="TextBox 4">
            <a:extLst>
              <a:ext uri="{FF2B5EF4-FFF2-40B4-BE49-F238E27FC236}">
                <a16:creationId xmlns:a16="http://schemas.microsoft.com/office/drawing/2014/main" id="{D3957E2B-6723-D4AF-224A-EF4F15A94CEC}"/>
              </a:ext>
            </a:extLst>
          </p:cNvPr>
          <p:cNvSpPr txBox="1"/>
          <p:nvPr/>
        </p:nvSpPr>
        <p:spPr>
          <a:xfrm>
            <a:off x="1526712" y="1090508"/>
            <a:ext cx="916027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chemeClr val="tx2"/>
                </a:solidFill>
              </a:rPr>
              <a:t>Expenditure-wise cheaper countries</a:t>
            </a:r>
            <a:endParaRPr lang="en-US"/>
          </a:p>
        </p:txBody>
      </p:sp>
      <p:pic>
        <p:nvPicPr>
          <p:cNvPr id="7" name="Graphic 6" descr="Money with solid fill">
            <a:extLst>
              <a:ext uri="{FF2B5EF4-FFF2-40B4-BE49-F238E27FC236}">
                <a16:creationId xmlns:a16="http://schemas.microsoft.com/office/drawing/2014/main" id="{22C3E391-E4C3-81DA-9E09-C435496ECB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33291" y="815197"/>
            <a:ext cx="914400" cy="914400"/>
          </a:xfrm>
          <a:prstGeom prst="rect">
            <a:avLst/>
          </a:prstGeom>
        </p:spPr>
      </p:pic>
      <p:sp>
        <p:nvSpPr>
          <p:cNvPr id="10" name="TextBox 9">
            <a:extLst>
              <a:ext uri="{FF2B5EF4-FFF2-40B4-BE49-F238E27FC236}">
                <a16:creationId xmlns:a16="http://schemas.microsoft.com/office/drawing/2014/main" id="{C93BE76A-E053-2BF7-759C-5B6FB1BF6638}"/>
              </a:ext>
            </a:extLst>
          </p:cNvPr>
          <p:cNvSpPr txBox="1"/>
          <p:nvPr/>
        </p:nvSpPr>
        <p:spPr>
          <a:xfrm>
            <a:off x="1011867" y="2175441"/>
            <a:ext cx="3952780" cy="36625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a:buChar char="o"/>
            </a:pPr>
            <a:r>
              <a:rPr lang="en-US" sz="1600" dirty="0">
                <a:latin typeface="Arial"/>
                <a:cs typeface="Arial"/>
              </a:rPr>
              <a:t>This chart shows the average dining cost for two people in different countries.</a:t>
            </a:r>
            <a:endParaRPr lang="en-US" sz="1600" dirty="0"/>
          </a:p>
          <a:p>
            <a:pPr marL="285750" indent="-285750">
              <a:buFont typeface="Courier New"/>
              <a:buChar char="o"/>
            </a:pPr>
            <a:r>
              <a:rPr lang="en-US" sz="1600" dirty="0">
                <a:latin typeface="Arial"/>
                <a:cs typeface="Arial"/>
              </a:rPr>
              <a:t>These are the few countries where the dining cost is less.</a:t>
            </a:r>
            <a:endParaRPr lang="en-US" sz="1600" dirty="0"/>
          </a:p>
          <a:p>
            <a:pPr marL="285750" indent="-285750">
              <a:buFont typeface="Courier New"/>
              <a:buChar char="o"/>
            </a:pPr>
            <a:r>
              <a:rPr lang="en-US" sz="1600" dirty="0">
                <a:latin typeface="Arial"/>
                <a:cs typeface="Arial"/>
              </a:rPr>
              <a:t>Average cost for dining is cheaper in India </a:t>
            </a:r>
            <a:r>
              <a:rPr lang="en-US" sz="1600">
                <a:latin typeface="Arial"/>
                <a:cs typeface="Arial"/>
              </a:rPr>
              <a:t>i.e. approximately</a:t>
            </a:r>
            <a:r>
              <a:rPr lang="en-US" sz="1600" dirty="0">
                <a:latin typeface="Arial"/>
                <a:cs typeface="Arial"/>
              </a:rPr>
              <a:t> Rs.600 as compared to other countries.</a:t>
            </a:r>
            <a:endParaRPr lang="en-US" sz="1600" dirty="0"/>
          </a:p>
          <a:p>
            <a:pPr marL="285750" indent="-285750">
              <a:buFont typeface="Courier New"/>
              <a:buChar char="o"/>
            </a:pPr>
            <a:r>
              <a:rPr lang="en-US" sz="1600" dirty="0">
                <a:latin typeface="Arial"/>
                <a:cs typeface="Arial"/>
              </a:rPr>
              <a:t>In order to keep our financial expenditure in control we can open new restaurants in India because the dining cost is less also the expenditure on food would be less.</a:t>
            </a:r>
            <a:endParaRPr lang="en-US" sz="1600" dirty="0"/>
          </a:p>
          <a:p>
            <a:pPr algn="l"/>
            <a:endParaRPr lang="en-US" sz="2400" dirty="0"/>
          </a:p>
        </p:txBody>
      </p:sp>
      <p:pic>
        <p:nvPicPr>
          <p:cNvPr id="6" name="Picture 5" descr="A graph of a bar graph&#10;&#10;AI-generated content may be incorrect.">
            <a:extLst>
              <a:ext uri="{FF2B5EF4-FFF2-40B4-BE49-F238E27FC236}">
                <a16:creationId xmlns:a16="http://schemas.microsoft.com/office/drawing/2014/main" id="{52280457-7CD8-3F36-0806-7A2A3EE461C4}"/>
              </a:ext>
            </a:extLst>
          </p:cNvPr>
          <p:cNvPicPr>
            <a:picLocks noChangeAspect="1"/>
          </p:cNvPicPr>
          <p:nvPr/>
        </p:nvPicPr>
        <p:blipFill>
          <a:blip r:embed="rId4"/>
          <a:stretch>
            <a:fillRect/>
          </a:stretch>
        </p:blipFill>
        <p:spPr>
          <a:xfrm>
            <a:off x="4967198" y="1997374"/>
            <a:ext cx="6283267" cy="3840913"/>
          </a:xfrm>
          <a:prstGeom prst="rect">
            <a:avLst/>
          </a:prstGeom>
        </p:spPr>
      </p:pic>
    </p:spTree>
    <p:extLst>
      <p:ext uri="{BB962C8B-B14F-4D97-AF65-F5344CB8AC3E}">
        <p14:creationId xmlns:p14="http://schemas.microsoft.com/office/powerpoint/2010/main" val="1596136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9860C-3194-BE85-F890-2A937BD09A9C}"/>
              </a:ext>
            </a:extLst>
          </p:cNvPr>
          <p:cNvSpPr>
            <a:spLocks noGrp="1"/>
          </p:cNvSpPr>
          <p:nvPr>
            <p:ph type="dt" sz="half" idx="10"/>
          </p:nvPr>
        </p:nvSpPr>
        <p:spPr/>
        <p:txBody>
          <a:bodyPr/>
          <a:lstStyle/>
          <a:p>
            <a:fld id="{D103574A-9826-434F-B069-B785AAED0A63}" type="datetime1">
              <a:t>2/2/2025</a:t>
            </a:fld>
            <a:endParaRPr lang="en-US" dirty="0"/>
          </a:p>
        </p:txBody>
      </p:sp>
      <p:sp>
        <p:nvSpPr>
          <p:cNvPr id="3" name="Footer Placeholder 2">
            <a:extLst>
              <a:ext uri="{FF2B5EF4-FFF2-40B4-BE49-F238E27FC236}">
                <a16:creationId xmlns:a16="http://schemas.microsoft.com/office/drawing/2014/main" id="{6B025D34-06C3-9042-AC7C-108D5532EF75}"/>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73CBC54-ACA3-DD76-238E-F001DC5D3EF5}"/>
              </a:ext>
            </a:extLst>
          </p:cNvPr>
          <p:cNvSpPr>
            <a:spLocks noGrp="1"/>
          </p:cNvSpPr>
          <p:nvPr>
            <p:ph type="sldNum" sz="quarter" idx="12"/>
          </p:nvPr>
        </p:nvSpPr>
        <p:spPr/>
        <p:txBody>
          <a:bodyPr/>
          <a:lstStyle/>
          <a:p>
            <a:fld id="{E30AF5A0-43BB-4336-8627-9123B9144D80}" type="slidenum">
              <a:rPr lang="en-US" dirty="0"/>
              <a:t>15</a:t>
            </a:fld>
            <a:endParaRPr lang="en-US" dirty="0"/>
          </a:p>
        </p:txBody>
      </p:sp>
      <p:sp>
        <p:nvSpPr>
          <p:cNvPr id="5" name="TextBox 4">
            <a:extLst>
              <a:ext uri="{FF2B5EF4-FFF2-40B4-BE49-F238E27FC236}">
                <a16:creationId xmlns:a16="http://schemas.microsoft.com/office/drawing/2014/main" id="{80382790-D0DD-ED41-5E02-F79D2D6C65D8}"/>
              </a:ext>
            </a:extLst>
          </p:cNvPr>
          <p:cNvSpPr txBox="1"/>
          <p:nvPr/>
        </p:nvSpPr>
        <p:spPr>
          <a:xfrm>
            <a:off x="2339637" y="1130163"/>
            <a:ext cx="721718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latin typeface="Nunito"/>
              </a:rPr>
              <a:t>Recommended Countries:</a:t>
            </a:r>
            <a:endParaRPr lang="en-US" sz="2400" b="1" dirty="0"/>
          </a:p>
          <a:p>
            <a:pPr algn="ctr"/>
            <a:br>
              <a:rPr lang="en-US" dirty="0"/>
            </a:br>
            <a:endParaRPr lang="en-US" dirty="0"/>
          </a:p>
        </p:txBody>
      </p:sp>
      <p:pic>
        <p:nvPicPr>
          <p:cNvPr id="6" name="Graphic 5" descr="Marker with solid fill">
            <a:extLst>
              <a:ext uri="{FF2B5EF4-FFF2-40B4-BE49-F238E27FC236}">
                <a16:creationId xmlns:a16="http://schemas.microsoft.com/office/drawing/2014/main" id="{916A6868-36AB-2C0A-1F67-07D1AE7B65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2989" y="2267311"/>
            <a:ext cx="2007078" cy="2323379"/>
          </a:xfrm>
          <a:prstGeom prst="rect">
            <a:avLst/>
          </a:prstGeom>
        </p:spPr>
      </p:pic>
      <p:sp>
        <p:nvSpPr>
          <p:cNvPr id="8" name="TextBox 7">
            <a:extLst>
              <a:ext uri="{FF2B5EF4-FFF2-40B4-BE49-F238E27FC236}">
                <a16:creationId xmlns:a16="http://schemas.microsoft.com/office/drawing/2014/main" id="{7D094929-E9AB-0301-58C7-616EE6928C00}"/>
              </a:ext>
            </a:extLst>
          </p:cNvPr>
          <p:cNvSpPr txBox="1"/>
          <p:nvPr/>
        </p:nvSpPr>
        <p:spPr>
          <a:xfrm>
            <a:off x="1170018" y="2161560"/>
            <a:ext cx="3331579"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a:buChar char="q"/>
            </a:pPr>
            <a:r>
              <a:rPr lang="en-US" sz="2800" dirty="0">
                <a:latin typeface="Nunito"/>
              </a:rPr>
              <a:t> Indonesia</a:t>
            </a:r>
            <a:endParaRPr lang="en-US" dirty="0"/>
          </a:p>
          <a:p>
            <a:pPr marL="457200" indent="-457200">
              <a:buFont typeface="Wingdings"/>
              <a:buChar char="q"/>
            </a:pPr>
            <a:r>
              <a:rPr lang="en-US" sz="2800" dirty="0">
                <a:latin typeface="Nunito"/>
              </a:rPr>
              <a:t>New Zealand</a:t>
            </a:r>
          </a:p>
          <a:p>
            <a:pPr marL="457200" indent="-457200">
              <a:buFont typeface="Wingdings"/>
              <a:buChar char="q"/>
            </a:pPr>
            <a:r>
              <a:rPr lang="en-US" sz="2800" dirty="0">
                <a:latin typeface="Nunito"/>
              </a:rPr>
              <a:t>Australia</a:t>
            </a:r>
          </a:p>
          <a:p>
            <a:pPr marL="457200" indent="-457200">
              <a:buFont typeface="Wingdings,Sans-Serif"/>
              <a:buChar char="q"/>
            </a:pPr>
            <a:r>
              <a:rPr lang="en-US" sz="2800" dirty="0">
                <a:latin typeface="Nunito"/>
              </a:rPr>
              <a:t>United Arab Emirates</a:t>
            </a:r>
            <a:endParaRPr lang="en-US" sz="2800">
              <a:latin typeface="Nunito"/>
            </a:endParaRPr>
          </a:p>
          <a:p>
            <a:pPr marL="457200" indent="-457200">
              <a:buFont typeface="Wingdings"/>
              <a:buChar char="q"/>
            </a:pPr>
            <a:endParaRPr lang="en-US" sz="2800" dirty="0">
              <a:latin typeface="Nunito"/>
            </a:endParaRPr>
          </a:p>
          <a:p>
            <a:pPr marL="457200" indent="-457200">
              <a:buFont typeface="Wingdings"/>
              <a:buChar char="q"/>
            </a:pPr>
            <a:endParaRPr lang="en-US" sz="2800" dirty="0">
              <a:latin typeface="Nunito"/>
            </a:endParaRPr>
          </a:p>
          <a:p>
            <a:endParaRPr lang="en-US" sz="2800" dirty="0">
              <a:latin typeface="Nunito"/>
            </a:endParaRPr>
          </a:p>
        </p:txBody>
      </p:sp>
      <p:sp>
        <p:nvSpPr>
          <p:cNvPr id="9" name="TextBox 8">
            <a:extLst>
              <a:ext uri="{FF2B5EF4-FFF2-40B4-BE49-F238E27FC236}">
                <a16:creationId xmlns:a16="http://schemas.microsoft.com/office/drawing/2014/main" id="{5010158E-907A-984F-A222-671A5E4AB177}"/>
              </a:ext>
            </a:extLst>
          </p:cNvPr>
          <p:cNvSpPr txBox="1"/>
          <p:nvPr/>
        </p:nvSpPr>
        <p:spPr>
          <a:xfrm>
            <a:off x="7001181" y="2270451"/>
            <a:ext cx="364848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a:buChar char="q"/>
            </a:pPr>
            <a:r>
              <a:rPr lang="en-US" sz="2800" dirty="0">
                <a:latin typeface="Nunito"/>
              </a:rPr>
              <a:t>South Africa</a:t>
            </a:r>
            <a:endParaRPr lang="en-US" dirty="0"/>
          </a:p>
          <a:p>
            <a:pPr marL="457200" indent="-457200">
              <a:buFont typeface="Wingdings"/>
              <a:buChar char="q"/>
            </a:pPr>
            <a:r>
              <a:rPr lang="en-US" sz="2800" dirty="0">
                <a:latin typeface="Nunito"/>
              </a:rPr>
              <a:t>Philippines</a:t>
            </a:r>
          </a:p>
          <a:p>
            <a:pPr marL="457200" indent="-457200">
              <a:buFont typeface="Wingdings"/>
              <a:buChar char="q"/>
            </a:pPr>
            <a:r>
              <a:rPr lang="en-US" sz="2800" dirty="0">
                <a:latin typeface="Nunito"/>
              </a:rPr>
              <a:t>Sri Lanka</a:t>
            </a:r>
          </a:p>
          <a:p>
            <a:pPr marL="457200" indent="-457200">
              <a:buFont typeface="Wingdings"/>
              <a:buChar char="q"/>
            </a:pPr>
            <a:r>
              <a:rPr lang="en-US" sz="2800" dirty="0">
                <a:latin typeface="Nunito"/>
              </a:rPr>
              <a:t>Turkey</a:t>
            </a:r>
          </a:p>
          <a:p>
            <a:pPr marL="457200" indent="-457200">
              <a:buFont typeface="Wingdings"/>
              <a:buChar char="q"/>
            </a:pPr>
            <a:r>
              <a:rPr lang="en-US" sz="2800" dirty="0">
                <a:latin typeface="Nunito"/>
              </a:rPr>
              <a:t>Qatar</a:t>
            </a:r>
          </a:p>
        </p:txBody>
      </p:sp>
    </p:spTree>
    <p:extLst>
      <p:ext uri="{BB962C8B-B14F-4D97-AF65-F5344CB8AC3E}">
        <p14:creationId xmlns:p14="http://schemas.microsoft.com/office/powerpoint/2010/main" val="3993321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5C53A-596C-F50B-FFFE-F30AE98E6B21}"/>
              </a:ext>
            </a:extLst>
          </p:cNvPr>
          <p:cNvSpPr>
            <a:spLocks noGrp="1"/>
          </p:cNvSpPr>
          <p:nvPr>
            <p:ph type="dt" sz="half" idx="10"/>
          </p:nvPr>
        </p:nvSpPr>
        <p:spPr/>
        <p:txBody>
          <a:bodyPr/>
          <a:lstStyle/>
          <a:p>
            <a:fld id="{6D82A0E7-2F1C-4A21-9A98-C9392454A95A}" type="datetime1">
              <a:t>2/2/2025</a:t>
            </a:fld>
            <a:endParaRPr lang="en-US" dirty="0"/>
          </a:p>
        </p:txBody>
      </p:sp>
      <p:sp>
        <p:nvSpPr>
          <p:cNvPr id="3" name="Footer Placeholder 2">
            <a:extLst>
              <a:ext uri="{FF2B5EF4-FFF2-40B4-BE49-F238E27FC236}">
                <a16:creationId xmlns:a16="http://schemas.microsoft.com/office/drawing/2014/main" id="{CC739195-1C9B-CFA1-3CF7-743A9A1D12D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BCA568D-9326-A45B-C4FB-97434F7AAAE6}"/>
              </a:ext>
            </a:extLst>
          </p:cNvPr>
          <p:cNvSpPr>
            <a:spLocks noGrp="1"/>
          </p:cNvSpPr>
          <p:nvPr>
            <p:ph type="sldNum" sz="quarter" idx="12"/>
          </p:nvPr>
        </p:nvSpPr>
        <p:spPr/>
        <p:txBody>
          <a:bodyPr/>
          <a:lstStyle/>
          <a:p>
            <a:fld id="{E30AF5A0-43BB-4336-8627-9123B9144D80}" type="slidenum">
              <a:rPr lang="en-US" dirty="0"/>
              <a:t>16</a:t>
            </a:fld>
            <a:endParaRPr lang="en-US" dirty="0"/>
          </a:p>
        </p:txBody>
      </p:sp>
      <p:sp>
        <p:nvSpPr>
          <p:cNvPr id="5" name="TextBox 4">
            <a:extLst>
              <a:ext uri="{FF2B5EF4-FFF2-40B4-BE49-F238E27FC236}">
                <a16:creationId xmlns:a16="http://schemas.microsoft.com/office/drawing/2014/main" id="{5A2E412D-EC72-048C-FFEF-25DD20204A3B}"/>
              </a:ext>
            </a:extLst>
          </p:cNvPr>
          <p:cNvSpPr txBox="1"/>
          <p:nvPr/>
        </p:nvSpPr>
        <p:spPr>
          <a:xfrm>
            <a:off x="2152830" y="811419"/>
            <a:ext cx="7534423"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dirty="0">
                <a:latin typeface="Nunito"/>
              </a:rPr>
              <a:t>Why these places?</a:t>
            </a:r>
            <a:endParaRPr lang="en-US" sz="3200" b="1" dirty="0"/>
          </a:p>
          <a:p>
            <a:pPr algn="ctr"/>
            <a:br>
              <a:rPr lang="en-US" dirty="0"/>
            </a:br>
            <a:endParaRPr lang="en-US" dirty="0"/>
          </a:p>
        </p:txBody>
      </p:sp>
      <p:sp>
        <p:nvSpPr>
          <p:cNvPr id="6" name="Rectangle: Rounded Corners 5">
            <a:extLst>
              <a:ext uri="{FF2B5EF4-FFF2-40B4-BE49-F238E27FC236}">
                <a16:creationId xmlns:a16="http://schemas.microsoft.com/office/drawing/2014/main" id="{2A6D07E7-5812-23E1-028A-0DE57D0AE89B}"/>
              </a:ext>
            </a:extLst>
          </p:cNvPr>
          <p:cNvSpPr/>
          <p:nvPr/>
        </p:nvSpPr>
        <p:spPr>
          <a:xfrm>
            <a:off x="1301982" y="2079286"/>
            <a:ext cx="4586088" cy="15157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dirty="0">
                <a:solidFill>
                  <a:schemeClr val="tx1"/>
                </a:solidFill>
                <a:ea typeface="+mn-lt"/>
                <a:cs typeface="+mn-lt"/>
              </a:rPr>
              <a:t>Limited Competition: With lower competition, these countries offer Zomato an opportunity to establish itself as a market leader and capture a significant share of the food delivery market.</a:t>
            </a:r>
            <a:endParaRPr lang="en-US">
              <a:solidFill>
                <a:schemeClr val="tx1"/>
              </a:solidFill>
            </a:endParaRPr>
          </a:p>
        </p:txBody>
      </p:sp>
      <p:sp>
        <p:nvSpPr>
          <p:cNvPr id="8" name="Rectangle: Rounded Corners 7">
            <a:extLst>
              <a:ext uri="{FF2B5EF4-FFF2-40B4-BE49-F238E27FC236}">
                <a16:creationId xmlns:a16="http://schemas.microsoft.com/office/drawing/2014/main" id="{07580731-7DA3-341E-E404-699CEE5C31E5}"/>
              </a:ext>
            </a:extLst>
          </p:cNvPr>
          <p:cNvSpPr/>
          <p:nvPr/>
        </p:nvSpPr>
        <p:spPr>
          <a:xfrm>
            <a:off x="6451615" y="2080863"/>
            <a:ext cx="4794002" cy="1509107"/>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dirty="0">
                <a:solidFill>
                  <a:schemeClr val="tx1"/>
                </a:solidFill>
                <a:ea typeface="+mn-lt"/>
                <a:cs typeface="+mn-lt"/>
              </a:rPr>
              <a:t>Growing Demand: These countries have a growing demand for food delivery services, driven by increasing urbanization and a rising middle class, making them attractive markets for Zomato's expansion.</a:t>
            </a:r>
            <a:endParaRPr lang="en-US" dirty="0">
              <a:solidFill>
                <a:schemeClr val="tx1"/>
              </a:solidFill>
            </a:endParaRPr>
          </a:p>
        </p:txBody>
      </p:sp>
      <p:sp>
        <p:nvSpPr>
          <p:cNvPr id="9" name="Rectangle: Rounded Corners 8">
            <a:extLst>
              <a:ext uri="{FF2B5EF4-FFF2-40B4-BE49-F238E27FC236}">
                <a16:creationId xmlns:a16="http://schemas.microsoft.com/office/drawing/2014/main" id="{79D96401-D07A-A056-6B5C-DC38526EDCDF}"/>
              </a:ext>
            </a:extLst>
          </p:cNvPr>
          <p:cNvSpPr/>
          <p:nvPr/>
        </p:nvSpPr>
        <p:spPr>
          <a:xfrm>
            <a:off x="3468783" y="4124762"/>
            <a:ext cx="5265301" cy="15157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ea typeface="+mn-lt"/>
                <a:cs typeface="+mn-lt"/>
              </a:rPr>
              <a:t>Positive Customer Sentiment: The high ratings (&gt;3.5) in these countries indicate a positive customer sentiment towards food delivery services, suggesting that Zomato can leverage this goodwill to drive adoption and growth.</a:t>
            </a:r>
            <a:endParaRPr lang="en-US" dirty="0">
              <a:solidFill>
                <a:schemeClr val="tx1"/>
              </a:solidFill>
            </a:endParaRPr>
          </a:p>
        </p:txBody>
      </p:sp>
    </p:spTree>
    <p:extLst>
      <p:ext uri="{BB962C8B-B14F-4D97-AF65-F5344CB8AC3E}">
        <p14:creationId xmlns:p14="http://schemas.microsoft.com/office/powerpoint/2010/main" val="2548669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4F29B4-E7DF-860B-C87B-D5EE92FF8117}"/>
              </a:ext>
            </a:extLst>
          </p:cNvPr>
          <p:cNvSpPr>
            <a:spLocks noGrp="1"/>
          </p:cNvSpPr>
          <p:nvPr>
            <p:ph type="dt" sz="half" idx="10"/>
          </p:nvPr>
        </p:nvSpPr>
        <p:spPr/>
        <p:txBody>
          <a:bodyPr/>
          <a:lstStyle/>
          <a:p>
            <a:fld id="{F3C55AE7-B369-4590-A58A-3E5F01A67CBC}" type="datetime1">
              <a:t>2/2/2025</a:t>
            </a:fld>
            <a:endParaRPr lang="en-US" dirty="0"/>
          </a:p>
        </p:txBody>
      </p:sp>
      <p:sp>
        <p:nvSpPr>
          <p:cNvPr id="3" name="Footer Placeholder 2">
            <a:extLst>
              <a:ext uri="{FF2B5EF4-FFF2-40B4-BE49-F238E27FC236}">
                <a16:creationId xmlns:a16="http://schemas.microsoft.com/office/drawing/2014/main" id="{61309BC4-93C1-D0F7-D558-34772056CE87}"/>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F61C193D-434C-9CF4-2A95-70A025BBE174}"/>
              </a:ext>
            </a:extLst>
          </p:cNvPr>
          <p:cNvSpPr>
            <a:spLocks noGrp="1"/>
          </p:cNvSpPr>
          <p:nvPr>
            <p:ph type="sldNum" sz="quarter" idx="12"/>
          </p:nvPr>
        </p:nvSpPr>
        <p:spPr/>
        <p:txBody>
          <a:bodyPr/>
          <a:lstStyle/>
          <a:p>
            <a:fld id="{E30AF5A0-43BB-4336-8627-9123B9144D80}" type="slidenum">
              <a:rPr lang="en-US" dirty="0"/>
              <a:t>17</a:t>
            </a:fld>
            <a:endParaRPr lang="en-US" dirty="0"/>
          </a:p>
        </p:txBody>
      </p:sp>
      <p:sp>
        <p:nvSpPr>
          <p:cNvPr id="5" name="TextBox 4">
            <a:extLst>
              <a:ext uri="{FF2B5EF4-FFF2-40B4-BE49-F238E27FC236}">
                <a16:creationId xmlns:a16="http://schemas.microsoft.com/office/drawing/2014/main" id="{35CDDD01-BA68-2518-7210-4B7E20EC4FD8}"/>
              </a:ext>
            </a:extLst>
          </p:cNvPr>
          <p:cNvSpPr txBox="1"/>
          <p:nvPr/>
        </p:nvSpPr>
        <p:spPr>
          <a:xfrm>
            <a:off x="2504111" y="945512"/>
            <a:ext cx="6536302"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b="1" dirty="0">
                <a:solidFill>
                  <a:schemeClr val="tx1">
                    <a:lumMod val="85000"/>
                    <a:lumOff val="15000"/>
                  </a:schemeClr>
                </a:solidFill>
                <a:ea typeface="+mn-lt"/>
                <a:cs typeface="+mn-lt"/>
              </a:rPr>
              <a:t>Dashboard</a:t>
            </a:r>
            <a:endParaRPr lang="en-US" sz="3200" b="1">
              <a:solidFill>
                <a:schemeClr val="tx1">
                  <a:lumMod val="85000"/>
                  <a:lumOff val="15000"/>
                </a:schemeClr>
              </a:solidFill>
            </a:endParaRPr>
          </a:p>
        </p:txBody>
      </p:sp>
      <p:pic>
        <p:nvPicPr>
          <p:cNvPr id="7" name="Picture 6" descr="A screenshot of a menu&#10;&#10;AI-generated content may be incorrect.">
            <a:extLst>
              <a:ext uri="{FF2B5EF4-FFF2-40B4-BE49-F238E27FC236}">
                <a16:creationId xmlns:a16="http://schemas.microsoft.com/office/drawing/2014/main" id="{C053922D-A645-5744-54A9-6C1B87496483}"/>
              </a:ext>
            </a:extLst>
          </p:cNvPr>
          <p:cNvPicPr>
            <a:picLocks noChangeAspect="1"/>
          </p:cNvPicPr>
          <p:nvPr/>
        </p:nvPicPr>
        <p:blipFill>
          <a:blip r:embed="rId2"/>
          <a:stretch>
            <a:fillRect/>
          </a:stretch>
        </p:blipFill>
        <p:spPr>
          <a:xfrm>
            <a:off x="1912189" y="1721331"/>
            <a:ext cx="8180718" cy="4076694"/>
          </a:xfrm>
          <a:prstGeom prst="rect">
            <a:avLst/>
          </a:prstGeom>
        </p:spPr>
      </p:pic>
    </p:spTree>
    <p:extLst>
      <p:ext uri="{BB962C8B-B14F-4D97-AF65-F5344CB8AC3E}">
        <p14:creationId xmlns:p14="http://schemas.microsoft.com/office/powerpoint/2010/main" val="702239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665171-75B5-19B3-6427-72B1940D4049}"/>
              </a:ext>
            </a:extLst>
          </p:cNvPr>
          <p:cNvSpPr>
            <a:spLocks noGrp="1"/>
          </p:cNvSpPr>
          <p:nvPr>
            <p:ph type="dt" sz="half" idx="10"/>
          </p:nvPr>
        </p:nvSpPr>
        <p:spPr/>
        <p:txBody>
          <a:bodyPr/>
          <a:lstStyle/>
          <a:p>
            <a:fld id="{71FB957E-FFB0-4581-84CC-F2F5E4262945}" type="datetime1">
              <a:t>2/2/2025</a:t>
            </a:fld>
            <a:endParaRPr lang="en-US" dirty="0"/>
          </a:p>
        </p:txBody>
      </p:sp>
      <p:sp>
        <p:nvSpPr>
          <p:cNvPr id="3" name="Footer Placeholder 2">
            <a:extLst>
              <a:ext uri="{FF2B5EF4-FFF2-40B4-BE49-F238E27FC236}">
                <a16:creationId xmlns:a16="http://schemas.microsoft.com/office/drawing/2014/main" id="{07571B3D-4917-25E9-A774-EEDB184B1905}"/>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6C139F2-D929-5758-85C2-BCF97F6F699F}"/>
              </a:ext>
            </a:extLst>
          </p:cNvPr>
          <p:cNvSpPr>
            <a:spLocks noGrp="1"/>
          </p:cNvSpPr>
          <p:nvPr>
            <p:ph type="sldNum" sz="quarter" idx="12"/>
          </p:nvPr>
        </p:nvSpPr>
        <p:spPr/>
        <p:txBody>
          <a:bodyPr/>
          <a:lstStyle/>
          <a:p>
            <a:fld id="{E30AF5A0-43BB-4336-8627-9123B9144D80}" type="slidenum">
              <a:rPr lang="en-US" dirty="0"/>
              <a:t>18</a:t>
            </a:fld>
            <a:endParaRPr lang="en-US" dirty="0"/>
          </a:p>
        </p:txBody>
      </p:sp>
      <p:sp>
        <p:nvSpPr>
          <p:cNvPr id="5" name="Oval 4">
            <a:extLst>
              <a:ext uri="{FF2B5EF4-FFF2-40B4-BE49-F238E27FC236}">
                <a16:creationId xmlns:a16="http://schemas.microsoft.com/office/drawing/2014/main" id="{8E364ECB-9DD8-3157-9DC1-745C9AB9FDFB}"/>
              </a:ext>
            </a:extLst>
          </p:cNvPr>
          <p:cNvSpPr/>
          <p:nvPr/>
        </p:nvSpPr>
        <p:spPr>
          <a:xfrm>
            <a:off x="4822106" y="4005201"/>
            <a:ext cx="2176448" cy="202098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00"/>
                </a:solidFill>
                <a:latin typeface="Nunito"/>
              </a:rPr>
              <a:t>This dashboard can help you:</a:t>
            </a:r>
            <a:endParaRPr lang="en-US" b="1"/>
          </a:p>
        </p:txBody>
      </p:sp>
      <p:sp>
        <p:nvSpPr>
          <p:cNvPr id="6" name="Oval 5">
            <a:extLst>
              <a:ext uri="{FF2B5EF4-FFF2-40B4-BE49-F238E27FC236}">
                <a16:creationId xmlns:a16="http://schemas.microsoft.com/office/drawing/2014/main" id="{E2FB3E35-7814-275C-F06D-BE2B5F3431EE}"/>
              </a:ext>
            </a:extLst>
          </p:cNvPr>
          <p:cNvSpPr/>
          <p:nvPr/>
        </p:nvSpPr>
        <p:spPr>
          <a:xfrm>
            <a:off x="2142826" y="1845769"/>
            <a:ext cx="2176448" cy="2001555"/>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rgbClr val="000000"/>
                </a:solidFill>
                <a:latin typeface="Nunito"/>
              </a:rPr>
              <a:t> Identify target countries with high market potential.</a:t>
            </a:r>
            <a:endParaRPr lang="en-US" sz="1600" b="1" dirty="0"/>
          </a:p>
        </p:txBody>
      </p:sp>
      <p:sp>
        <p:nvSpPr>
          <p:cNvPr id="7" name="Oval 6">
            <a:extLst>
              <a:ext uri="{FF2B5EF4-FFF2-40B4-BE49-F238E27FC236}">
                <a16:creationId xmlns:a16="http://schemas.microsoft.com/office/drawing/2014/main" id="{3666402A-1BE1-3201-7F45-D976B86260F5}"/>
              </a:ext>
            </a:extLst>
          </p:cNvPr>
          <p:cNvSpPr/>
          <p:nvPr/>
        </p:nvSpPr>
        <p:spPr>
          <a:xfrm>
            <a:off x="1395427" y="4008955"/>
            <a:ext cx="2137583" cy="2056699"/>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rgbClr val="000000"/>
                </a:solidFill>
                <a:latin typeface="Nunito"/>
              </a:rPr>
              <a:t> Understand customer segments and tailor marketing strategies.</a:t>
            </a:r>
            <a:endParaRPr lang="en-US" sz="1600" b="1"/>
          </a:p>
        </p:txBody>
      </p:sp>
      <p:sp>
        <p:nvSpPr>
          <p:cNvPr id="8" name="Oval 7">
            <a:extLst>
              <a:ext uri="{FF2B5EF4-FFF2-40B4-BE49-F238E27FC236}">
                <a16:creationId xmlns:a16="http://schemas.microsoft.com/office/drawing/2014/main" id="{A5BEDB54-EEF7-3C54-E97E-EE6E5E8B01DB}"/>
              </a:ext>
            </a:extLst>
          </p:cNvPr>
          <p:cNvSpPr/>
          <p:nvPr/>
        </p:nvSpPr>
        <p:spPr>
          <a:xfrm>
            <a:off x="4838986" y="1201753"/>
            <a:ext cx="2183404" cy="200503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00" dirty="0">
                <a:solidFill>
                  <a:srgbClr val="000000"/>
                </a:solidFill>
                <a:latin typeface="Nunito"/>
              </a:rPr>
              <a:t> </a:t>
            </a:r>
            <a:r>
              <a:rPr lang="en-US" sz="1600" b="1" dirty="0">
                <a:solidFill>
                  <a:srgbClr val="000000"/>
                </a:solidFill>
                <a:latin typeface="Nunito"/>
              </a:rPr>
              <a:t>To find the most popular cuisine.</a:t>
            </a:r>
            <a:endParaRPr lang="en-US" sz="1600" b="1"/>
          </a:p>
        </p:txBody>
      </p:sp>
      <p:sp>
        <p:nvSpPr>
          <p:cNvPr id="9" name="Oval 8">
            <a:extLst>
              <a:ext uri="{FF2B5EF4-FFF2-40B4-BE49-F238E27FC236}">
                <a16:creationId xmlns:a16="http://schemas.microsoft.com/office/drawing/2014/main" id="{22F6DA47-ECA4-806D-CA14-A6CF40C99093}"/>
              </a:ext>
            </a:extLst>
          </p:cNvPr>
          <p:cNvSpPr/>
          <p:nvPr/>
        </p:nvSpPr>
        <p:spPr>
          <a:xfrm>
            <a:off x="8576072" y="3961468"/>
            <a:ext cx="2157015" cy="2098718"/>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rgbClr val="000000"/>
                </a:solidFill>
                <a:latin typeface="Nunito"/>
              </a:rPr>
              <a:t> Evaluate marketing campaign performance and adjust strategies.</a:t>
            </a:r>
            <a:endParaRPr lang="en-US" sz="2400" b="1"/>
          </a:p>
        </p:txBody>
      </p:sp>
      <p:sp>
        <p:nvSpPr>
          <p:cNvPr id="10" name="Oval 9">
            <a:extLst>
              <a:ext uri="{FF2B5EF4-FFF2-40B4-BE49-F238E27FC236}">
                <a16:creationId xmlns:a16="http://schemas.microsoft.com/office/drawing/2014/main" id="{75449221-5B3D-5EDF-8FC3-6E51577A9D0A}"/>
              </a:ext>
            </a:extLst>
          </p:cNvPr>
          <p:cNvSpPr/>
          <p:nvPr/>
        </p:nvSpPr>
        <p:spPr>
          <a:xfrm>
            <a:off x="7490675" y="1838673"/>
            <a:ext cx="2174083" cy="2049742"/>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b="1" dirty="0">
              <a:solidFill>
                <a:schemeClr val="tx1">
                  <a:lumMod val="85000"/>
                  <a:lumOff val="15000"/>
                </a:schemeClr>
              </a:solidFill>
              <a:latin typeface="Nunito"/>
            </a:endParaRPr>
          </a:p>
          <a:p>
            <a:endParaRPr lang="en-US" sz="1600" b="1" dirty="0">
              <a:solidFill>
                <a:schemeClr val="tx1">
                  <a:lumMod val="85000"/>
                  <a:lumOff val="15000"/>
                </a:schemeClr>
              </a:solidFill>
              <a:latin typeface="Nunito"/>
            </a:endParaRPr>
          </a:p>
          <a:p>
            <a:r>
              <a:rPr lang="en-US" sz="1600" b="1" dirty="0">
                <a:solidFill>
                  <a:schemeClr val="tx1"/>
                </a:solidFill>
                <a:latin typeface="Nunito"/>
              </a:rPr>
              <a:t> Monitor operational efficiency and reduce costs</a:t>
            </a:r>
            <a:r>
              <a:rPr lang="en-US" sz="1300" dirty="0">
                <a:solidFill>
                  <a:schemeClr val="tx1"/>
                </a:solidFill>
                <a:latin typeface="Nunito"/>
              </a:rPr>
              <a:t>.</a:t>
            </a:r>
            <a:endParaRPr lang="en-US">
              <a:solidFill>
                <a:schemeClr val="tx1"/>
              </a:solidFill>
            </a:endParaRPr>
          </a:p>
          <a:p>
            <a:pPr algn="ctr"/>
            <a:br>
              <a:rPr lang="en-US" dirty="0"/>
            </a:br>
            <a:endParaRPr lang="en-US" dirty="0"/>
          </a:p>
        </p:txBody>
      </p:sp>
      <p:sp>
        <p:nvSpPr>
          <p:cNvPr id="14" name="Arrow: Left 13">
            <a:extLst>
              <a:ext uri="{FF2B5EF4-FFF2-40B4-BE49-F238E27FC236}">
                <a16:creationId xmlns:a16="http://schemas.microsoft.com/office/drawing/2014/main" id="{9F832BE0-91E0-A441-ABF3-ED78B47DEBC8}"/>
              </a:ext>
            </a:extLst>
          </p:cNvPr>
          <p:cNvSpPr/>
          <p:nvPr/>
        </p:nvSpPr>
        <p:spPr>
          <a:xfrm>
            <a:off x="3692189" y="4838712"/>
            <a:ext cx="1049359" cy="369218"/>
          </a:xfrm>
          <a:prstGeom prst="lef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Up 16">
            <a:extLst>
              <a:ext uri="{FF2B5EF4-FFF2-40B4-BE49-F238E27FC236}">
                <a16:creationId xmlns:a16="http://schemas.microsoft.com/office/drawing/2014/main" id="{C0F2DFD1-68AC-7054-47C2-5F822AD4DEC0}"/>
              </a:ext>
            </a:extLst>
          </p:cNvPr>
          <p:cNvSpPr/>
          <p:nvPr/>
        </p:nvSpPr>
        <p:spPr>
          <a:xfrm>
            <a:off x="5693745" y="3284105"/>
            <a:ext cx="369218" cy="582977"/>
          </a:xfrm>
          <a:prstGeom prst="up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334F1904-6A4E-11F1-560E-9686418F8B26}"/>
              </a:ext>
            </a:extLst>
          </p:cNvPr>
          <p:cNvSpPr/>
          <p:nvPr/>
        </p:nvSpPr>
        <p:spPr>
          <a:xfrm>
            <a:off x="7092890" y="4838711"/>
            <a:ext cx="1243684" cy="427516"/>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 18">
            <a:extLst>
              <a:ext uri="{FF2B5EF4-FFF2-40B4-BE49-F238E27FC236}">
                <a16:creationId xmlns:a16="http://schemas.microsoft.com/office/drawing/2014/main" id="{B072653D-1489-312D-58A0-07B2C0D0DED5}"/>
              </a:ext>
            </a:extLst>
          </p:cNvPr>
          <p:cNvSpPr>
            <a:spLocks/>
          </p:cNvSpPr>
          <p:nvPr/>
        </p:nvSpPr>
        <p:spPr>
          <a:xfrm rot="1740000" flipV="1">
            <a:off x="3941057" y="3769973"/>
            <a:ext cx="1152690" cy="393708"/>
          </a:xfrm>
          <a:prstGeom prst="leftArrow">
            <a:avLst/>
          </a:prstGeom>
          <a:solidFill>
            <a:srgbClr val="00B0F0"/>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Up 10">
            <a:extLst>
              <a:ext uri="{FF2B5EF4-FFF2-40B4-BE49-F238E27FC236}">
                <a16:creationId xmlns:a16="http://schemas.microsoft.com/office/drawing/2014/main" id="{4D5616CD-ED85-C215-DDFD-FDB6707E4EF9}"/>
              </a:ext>
            </a:extLst>
          </p:cNvPr>
          <p:cNvSpPr/>
          <p:nvPr/>
        </p:nvSpPr>
        <p:spPr>
          <a:xfrm rot="2460000">
            <a:off x="6993051" y="3429181"/>
            <a:ext cx="427516" cy="1088224"/>
          </a:xfrm>
          <a:prstGeom prst="up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8669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51CF8F-DF0D-80C6-B1EA-2180D59C1CC4}"/>
              </a:ext>
            </a:extLst>
          </p:cNvPr>
          <p:cNvSpPr>
            <a:spLocks noGrp="1"/>
          </p:cNvSpPr>
          <p:nvPr>
            <p:ph type="dt" sz="half" idx="10"/>
          </p:nvPr>
        </p:nvSpPr>
        <p:spPr/>
        <p:txBody>
          <a:bodyPr/>
          <a:lstStyle/>
          <a:p>
            <a:fld id="{8D75C65F-6B90-4538-8B93-AB1418E332DB}" type="datetime1">
              <a:t>2/2/2025</a:t>
            </a:fld>
            <a:endParaRPr lang="en-US" dirty="0"/>
          </a:p>
        </p:txBody>
      </p:sp>
      <p:sp>
        <p:nvSpPr>
          <p:cNvPr id="3" name="Footer Placeholder 2">
            <a:extLst>
              <a:ext uri="{FF2B5EF4-FFF2-40B4-BE49-F238E27FC236}">
                <a16:creationId xmlns:a16="http://schemas.microsoft.com/office/drawing/2014/main" id="{F5EA64AB-F0B5-E667-8248-F8CBE51BD00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E29016E3-11CA-DD62-7357-ECC7FA2A9098}"/>
              </a:ext>
            </a:extLst>
          </p:cNvPr>
          <p:cNvSpPr>
            <a:spLocks noGrp="1"/>
          </p:cNvSpPr>
          <p:nvPr>
            <p:ph type="sldNum" sz="quarter" idx="12"/>
          </p:nvPr>
        </p:nvSpPr>
        <p:spPr/>
        <p:txBody>
          <a:bodyPr/>
          <a:lstStyle/>
          <a:p>
            <a:fld id="{E30AF5A0-43BB-4336-8627-9123B9144D80}" type="slidenum">
              <a:rPr lang="en-US" dirty="0"/>
              <a:t>19</a:t>
            </a:fld>
            <a:endParaRPr lang="en-US" dirty="0"/>
          </a:p>
        </p:txBody>
      </p:sp>
      <p:sp>
        <p:nvSpPr>
          <p:cNvPr id="5" name="TextBox 4">
            <a:extLst>
              <a:ext uri="{FF2B5EF4-FFF2-40B4-BE49-F238E27FC236}">
                <a16:creationId xmlns:a16="http://schemas.microsoft.com/office/drawing/2014/main" id="{5ECDC0A3-5866-28BD-28B3-60CA1191BF77}"/>
              </a:ext>
            </a:extLst>
          </p:cNvPr>
          <p:cNvSpPr txBox="1"/>
          <p:nvPr/>
        </p:nvSpPr>
        <p:spPr>
          <a:xfrm>
            <a:off x="3478431" y="991060"/>
            <a:ext cx="5402256" cy="1138773"/>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b="1" dirty="0">
                <a:latin typeface="Nunito"/>
              </a:rPr>
              <a:t>Conclusion</a:t>
            </a:r>
            <a:endParaRPr lang="en-US" sz="3200"/>
          </a:p>
          <a:p>
            <a:br>
              <a:rPr lang="en-US" dirty="0"/>
            </a:br>
            <a:endParaRPr lang="en-US" dirty="0"/>
          </a:p>
        </p:txBody>
      </p:sp>
      <p:sp>
        <p:nvSpPr>
          <p:cNvPr id="6" name="Frame 5">
            <a:extLst>
              <a:ext uri="{FF2B5EF4-FFF2-40B4-BE49-F238E27FC236}">
                <a16:creationId xmlns:a16="http://schemas.microsoft.com/office/drawing/2014/main" id="{132E4BFF-08EC-7F93-F54C-FBE4B9BD1A93}"/>
              </a:ext>
            </a:extLst>
          </p:cNvPr>
          <p:cNvSpPr/>
          <p:nvPr/>
        </p:nvSpPr>
        <p:spPr>
          <a:xfrm>
            <a:off x="1399145" y="2195880"/>
            <a:ext cx="2623397" cy="3342403"/>
          </a:xfrm>
          <a:prstGeom prst="frame">
            <a:avLst/>
          </a:prstGeom>
          <a:solidFill>
            <a:schemeClr val="accent5">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rame 6">
            <a:extLst>
              <a:ext uri="{FF2B5EF4-FFF2-40B4-BE49-F238E27FC236}">
                <a16:creationId xmlns:a16="http://schemas.microsoft.com/office/drawing/2014/main" id="{8198EF8C-0E9E-23E9-D720-117B138774E8}"/>
              </a:ext>
            </a:extLst>
          </p:cNvPr>
          <p:cNvSpPr/>
          <p:nvPr/>
        </p:nvSpPr>
        <p:spPr>
          <a:xfrm>
            <a:off x="4378635" y="2191614"/>
            <a:ext cx="2631930" cy="3345880"/>
          </a:xfrm>
          <a:prstGeom prst="frame">
            <a:avLst/>
          </a:prstGeom>
          <a:solidFill>
            <a:schemeClr val="accent5">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Frame 7">
            <a:extLst>
              <a:ext uri="{FF2B5EF4-FFF2-40B4-BE49-F238E27FC236}">
                <a16:creationId xmlns:a16="http://schemas.microsoft.com/office/drawing/2014/main" id="{AD7BADE0-841E-0C99-BD20-0DA7F341EF71}"/>
              </a:ext>
            </a:extLst>
          </p:cNvPr>
          <p:cNvSpPr/>
          <p:nvPr/>
        </p:nvSpPr>
        <p:spPr>
          <a:xfrm>
            <a:off x="7341384" y="2192402"/>
            <a:ext cx="2619919" cy="3357569"/>
          </a:xfrm>
          <a:prstGeom prst="frame">
            <a:avLst/>
          </a:prstGeom>
          <a:solidFill>
            <a:schemeClr val="accent5">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DAF2B542-8F98-624F-1554-DD8981B72506}"/>
              </a:ext>
            </a:extLst>
          </p:cNvPr>
          <p:cNvSpPr txBox="1"/>
          <p:nvPr/>
        </p:nvSpPr>
        <p:spPr>
          <a:xfrm>
            <a:off x="1662022" y="2553420"/>
            <a:ext cx="2110598"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 Market</a:t>
            </a:r>
            <a:endParaRPr lang="en-US" dirty="0">
              <a:latin typeface="Calisto MT" panose="02040603050505030304"/>
              <a:cs typeface="Arial"/>
            </a:endParaRPr>
          </a:p>
          <a:p>
            <a:r>
              <a:rPr lang="en-US" dirty="0">
                <a:latin typeface="Arial"/>
                <a:cs typeface="Arial"/>
              </a:rPr>
              <a:t> Penetration:</a:t>
            </a:r>
            <a:endParaRPr lang="en-US" dirty="0"/>
          </a:p>
          <a:p>
            <a:r>
              <a:rPr lang="en-US" dirty="0">
                <a:latin typeface="Arial"/>
                <a:cs typeface="Arial"/>
              </a:rPr>
              <a:t> Identified densely</a:t>
            </a:r>
          </a:p>
          <a:p>
            <a:r>
              <a:rPr lang="en-US" dirty="0">
                <a:latin typeface="Arial"/>
                <a:cs typeface="Arial"/>
              </a:rPr>
              <a:t> populated</a:t>
            </a:r>
          </a:p>
          <a:p>
            <a:r>
              <a:rPr lang="en-US" dirty="0">
                <a:latin typeface="Arial"/>
                <a:cs typeface="Arial"/>
              </a:rPr>
              <a:t> countries</a:t>
            </a:r>
            <a:endParaRPr lang="en-US"/>
          </a:p>
          <a:p>
            <a:r>
              <a:rPr lang="en-US" dirty="0">
                <a:latin typeface="Arial"/>
                <a:cs typeface="Arial"/>
              </a:rPr>
              <a:t> and cities</a:t>
            </a:r>
          </a:p>
          <a:p>
            <a:r>
              <a:rPr lang="en-US" dirty="0">
                <a:latin typeface="Arial"/>
                <a:cs typeface="Arial"/>
              </a:rPr>
              <a:t> highlighting</a:t>
            </a:r>
            <a:endParaRPr lang="en-US"/>
          </a:p>
          <a:p>
            <a:r>
              <a:rPr lang="en-US" dirty="0">
                <a:latin typeface="Arial"/>
                <a:cs typeface="Arial"/>
              </a:rPr>
              <a:t> expansion</a:t>
            </a:r>
            <a:endParaRPr lang="en-US" sz="2000" dirty="0">
              <a:latin typeface="Calisto MT" panose="02040603050505030304"/>
              <a:cs typeface="Arial"/>
            </a:endParaRPr>
          </a:p>
          <a:p>
            <a:r>
              <a:rPr lang="en-US" dirty="0">
                <a:latin typeface="Arial"/>
                <a:cs typeface="Arial"/>
              </a:rPr>
              <a:t> opportunities</a:t>
            </a:r>
            <a:r>
              <a:rPr lang="en-US" sz="2000" dirty="0">
                <a:latin typeface="Arial"/>
                <a:cs typeface="Arial"/>
              </a:rPr>
              <a:t>.</a:t>
            </a:r>
            <a:endParaRPr lang="en-US" sz="2000"/>
          </a:p>
        </p:txBody>
      </p:sp>
      <p:sp>
        <p:nvSpPr>
          <p:cNvPr id="14" name="TextBox 13">
            <a:extLst>
              <a:ext uri="{FF2B5EF4-FFF2-40B4-BE49-F238E27FC236}">
                <a16:creationId xmlns:a16="http://schemas.microsoft.com/office/drawing/2014/main" id="{889EEC36-B1E8-FC6A-0051-7C138AE5D73B}"/>
              </a:ext>
            </a:extLst>
          </p:cNvPr>
          <p:cNvSpPr txBox="1"/>
          <p:nvPr/>
        </p:nvSpPr>
        <p:spPr>
          <a:xfrm>
            <a:off x="4560196" y="2550122"/>
            <a:ext cx="225116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Arial"/>
                <a:cs typeface="Arial"/>
              </a:rPr>
              <a:t> Customer  insights: </a:t>
            </a:r>
            <a:endParaRPr lang="en-US" dirty="0"/>
          </a:p>
          <a:p>
            <a:r>
              <a:rPr lang="en-US" sz="1600" dirty="0">
                <a:latin typeface="Arial"/>
                <a:cs typeface="Arial"/>
              </a:rPr>
              <a:t>  Identified key</a:t>
            </a:r>
          </a:p>
          <a:p>
            <a:r>
              <a:rPr lang="en-US" sz="1600" dirty="0">
                <a:latin typeface="Arial"/>
                <a:cs typeface="Arial"/>
              </a:rPr>
              <a:t>  customer segments</a:t>
            </a:r>
          </a:p>
          <a:p>
            <a:r>
              <a:rPr lang="en-US" sz="1600" dirty="0">
                <a:latin typeface="Arial"/>
                <a:cs typeface="Arial"/>
              </a:rPr>
              <a:t>  including, popular </a:t>
            </a:r>
          </a:p>
          <a:p>
            <a:r>
              <a:rPr lang="en-US" sz="1600" dirty="0">
                <a:latin typeface="Arial"/>
                <a:cs typeface="Arial"/>
              </a:rPr>
              <a:t>  cuisines, ratings,</a:t>
            </a:r>
            <a:endParaRPr lang="en-US">
              <a:latin typeface="Calisto MT" panose="02040603050505030304"/>
              <a:cs typeface="Arial"/>
            </a:endParaRPr>
          </a:p>
          <a:p>
            <a:r>
              <a:rPr lang="en-US" sz="1600" dirty="0">
                <a:latin typeface="Arial"/>
                <a:cs typeface="Arial"/>
              </a:rPr>
              <a:t>  online delivery</a:t>
            </a:r>
            <a:endParaRPr lang="en-US" dirty="0">
              <a:latin typeface="Calisto MT" panose="02040603050505030304"/>
              <a:cs typeface="Arial"/>
            </a:endParaRPr>
          </a:p>
          <a:p>
            <a:r>
              <a:rPr lang="en-US" sz="1600" dirty="0">
                <a:latin typeface="Arial"/>
                <a:cs typeface="Arial"/>
              </a:rPr>
              <a:t>  facilities etc.</a:t>
            </a:r>
            <a:endParaRPr lang="en-US" dirty="0">
              <a:latin typeface="Calisto MT" panose="02040603050505030304"/>
              <a:cs typeface="Arial"/>
            </a:endParaRPr>
          </a:p>
          <a:p>
            <a:r>
              <a:rPr lang="en-US" sz="1600" dirty="0">
                <a:latin typeface="Arial"/>
                <a:cs typeface="Arial"/>
              </a:rPr>
              <a:t>  for  better customer </a:t>
            </a:r>
            <a:endParaRPr lang="en-US" dirty="0">
              <a:latin typeface="Calisto MT" panose="02040603050505030304"/>
              <a:cs typeface="Arial"/>
            </a:endParaRPr>
          </a:p>
          <a:p>
            <a:r>
              <a:rPr lang="en-US" sz="1600" dirty="0">
                <a:latin typeface="Arial"/>
                <a:cs typeface="Arial"/>
              </a:rPr>
              <a:t>  reviews.</a:t>
            </a:r>
            <a:endParaRPr lang="en-US" dirty="0"/>
          </a:p>
        </p:txBody>
      </p:sp>
      <p:sp>
        <p:nvSpPr>
          <p:cNvPr id="15" name="TextBox 14">
            <a:extLst>
              <a:ext uri="{FF2B5EF4-FFF2-40B4-BE49-F238E27FC236}">
                <a16:creationId xmlns:a16="http://schemas.microsoft.com/office/drawing/2014/main" id="{967C4B3D-CF4C-AAD8-334E-5B46FCAD5797}"/>
              </a:ext>
            </a:extLst>
          </p:cNvPr>
          <p:cNvSpPr txBox="1"/>
          <p:nvPr/>
        </p:nvSpPr>
        <p:spPr>
          <a:xfrm>
            <a:off x="7657824" y="2552812"/>
            <a:ext cx="1981009"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Highlighted regions for expansion</a:t>
            </a:r>
            <a:endParaRPr lang="en-US" dirty="0"/>
          </a:p>
          <a:p>
            <a:r>
              <a:rPr lang="en-US" dirty="0">
                <a:latin typeface="Arial"/>
                <a:cs typeface="Arial"/>
              </a:rPr>
              <a:t>Where expenditure is less and profit is high</a:t>
            </a:r>
            <a:r>
              <a:rPr lang="en-US" sz="2000" dirty="0">
                <a:latin typeface="Arial"/>
                <a:cs typeface="Arial"/>
              </a:rPr>
              <a:t>.</a:t>
            </a:r>
          </a:p>
        </p:txBody>
      </p:sp>
    </p:spTree>
    <p:extLst>
      <p:ext uri="{BB962C8B-B14F-4D97-AF65-F5344CB8AC3E}">
        <p14:creationId xmlns:p14="http://schemas.microsoft.com/office/powerpoint/2010/main" val="576635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ED750B-65F2-3564-5279-52BBB8E01CFB}"/>
              </a:ext>
            </a:extLst>
          </p:cNvPr>
          <p:cNvSpPr>
            <a:spLocks noGrp="1"/>
          </p:cNvSpPr>
          <p:nvPr>
            <p:ph type="dt" sz="half" idx="10"/>
          </p:nvPr>
        </p:nvSpPr>
        <p:spPr/>
        <p:txBody>
          <a:bodyPr/>
          <a:lstStyle/>
          <a:p>
            <a:fld id="{FC4ED53C-5500-44C4-BD3B-352185E9CF2B}" type="datetime1">
              <a:t>2/2/2025</a:t>
            </a:fld>
            <a:endParaRPr lang="en-US" dirty="0"/>
          </a:p>
        </p:txBody>
      </p:sp>
      <p:sp>
        <p:nvSpPr>
          <p:cNvPr id="3" name="Footer Placeholder 2">
            <a:extLst>
              <a:ext uri="{FF2B5EF4-FFF2-40B4-BE49-F238E27FC236}">
                <a16:creationId xmlns:a16="http://schemas.microsoft.com/office/drawing/2014/main" id="{48EEF0C0-9DA9-35D5-355D-BDCFDF3E49E2}"/>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E7976065-8965-E10F-3051-07DA402DE9C2}"/>
              </a:ext>
            </a:extLst>
          </p:cNvPr>
          <p:cNvSpPr>
            <a:spLocks noGrp="1"/>
          </p:cNvSpPr>
          <p:nvPr>
            <p:ph type="sldNum" sz="quarter" idx="12"/>
          </p:nvPr>
        </p:nvSpPr>
        <p:spPr/>
        <p:txBody>
          <a:bodyPr/>
          <a:lstStyle/>
          <a:p>
            <a:fld id="{E30AF5A0-43BB-4336-8627-9123B9144D80}" type="slidenum">
              <a:rPr lang="en-US" dirty="0"/>
              <a:t>20</a:t>
            </a:fld>
            <a:endParaRPr lang="en-US" dirty="0"/>
          </a:p>
        </p:txBody>
      </p:sp>
      <p:sp>
        <p:nvSpPr>
          <p:cNvPr id="6" name="Rectangle: Folded Corner 5">
            <a:extLst>
              <a:ext uri="{FF2B5EF4-FFF2-40B4-BE49-F238E27FC236}">
                <a16:creationId xmlns:a16="http://schemas.microsoft.com/office/drawing/2014/main" id="{D7278185-11A4-F27A-34D3-0AEB1A1597A0}"/>
              </a:ext>
            </a:extLst>
          </p:cNvPr>
          <p:cNvSpPr/>
          <p:nvPr/>
        </p:nvSpPr>
        <p:spPr>
          <a:xfrm>
            <a:off x="2739993" y="1131031"/>
            <a:ext cx="6937429" cy="4698741"/>
          </a:xfrm>
          <a:prstGeom prst="foldedCorner">
            <a:avLst/>
          </a:prstGeom>
          <a:solidFill>
            <a:schemeClr val="bg2">
              <a:lumMod val="50000"/>
            </a:schemeClr>
          </a:solidFill>
          <a:effectLst>
            <a:reflection stA="40000" endPos="54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r>
              <a:rPr lang="en-US" dirty="0"/>
            </a:br>
            <a:endParaRPr lang="en-US"/>
          </a:p>
          <a:p>
            <a:pPr algn="ctr"/>
            <a:r>
              <a:rPr lang="en-US" sz="2400" dirty="0">
                <a:solidFill>
                  <a:schemeClr val="tx1"/>
                </a:solidFill>
                <a:latin typeface="Arial"/>
                <a:cs typeface="Arial"/>
              </a:rPr>
              <a:t>In conclusion, this project demonstrates the power of data-driven decision-making in driving business growth. By leveraging data analytics and market insights, Zomato can inform its expansion strategy, optimize operational efficiency, and drive revenue growth. These findings highlight the importance of data-driven decision-making in today's fast-paced business environment.</a:t>
            </a:r>
            <a:endParaRPr lang="en-US" sz="2400">
              <a:solidFill>
                <a:schemeClr val="tx1"/>
              </a:solidFill>
            </a:endParaRPr>
          </a:p>
          <a:p>
            <a:pPr algn="ctr"/>
            <a:br>
              <a:rPr lang="en-US" dirty="0"/>
            </a:br>
            <a:endParaRPr lang="en-US" dirty="0"/>
          </a:p>
        </p:txBody>
      </p:sp>
    </p:spTree>
    <p:extLst>
      <p:ext uri="{BB962C8B-B14F-4D97-AF65-F5344CB8AC3E}">
        <p14:creationId xmlns:p14="http://schemas.microsoft.com/office/powerpoint/2010/main" val="957086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531CFF-3B7C-9C8B-F625-EE31216E48EF}"/>
              </a:ext>
            </a:extLst>
          </p:cNvPr>
          <p:cNvSpPr>
            <a:spLocks noGrp="1"/>
          </p:cNvSpPr>
          <p:nvPr>
            <p:ph type="dt" sz="half" idx="10"/>
          </p:nvPr>
        </p:nvSpPr>
        <p:spPr/>
        <p:txBody>
          <a:bodyPr/>
          <a:lstStyle/>
          <a:p>
            <a:fld id="{D52138FC-3222-41C0-B03B-84F1D5A409CD}" type="datetime1">
              <a:t>2/2/2025</a:t>
            </a:fld>
            <a:endParaRPr lang="en-US" dirty="0"/>
          </a:p>
        </p:txBody>
      </p:sp>
      <p:sp>
        <p:nvSpPr>
          <p:cNvPr id="3" name="Footer Placeholder 2">
            <a:extLst>
              <a:ext uri="{FF2B5EF4-FFF2-40B4-BE49-F238E27FC236}">
                <a16:creationId xmlns:a16="http://schemas.microsoft.com/office/drawing/2014/main" id="{5DF04CFD-9AC9-C01F-B3B7-93D6904F9111}"/>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B8BECB1-024E-229D-D6F9-4A5D4F94214C}"/>
              </a:ext>
            </a:extLst>
          </p:cNvPr>
          <p:cNvSpPr>
            <a:spLocks noGrp="1"/>
          </p:cNvSpPr>
          <p:nvPr>
            <p:ph type="sldNum" sz="quarter" idx="12"/>
          </p:nvPr>
        </p:nvSpPr>
        <p:spPr/>
        <p:txBody>
          <a:bodyPr/>
          <a:lstStyle/>
          <a:p>
            <a:fld id="{E30AF5A0-43BB-4336-8627-9123B9144D80}" type="slidenum">
              <a:rPr lang="en-US" dirty="0"/>
              <a:t>21</a:t>
            </a:fld>
            <a:endParaRPr lang="en-US" dirty="0"/>
          </a:p>
        </p:txBody>
      </p:sp>
      <p:pic>
        <p:nvPicPr>
          <p:cNvPr id="8" name="Picture 7" descr="A spoon and fork on a red background&#10;&#10;AI-generated content may be incorrect.">
            <a:extLst>
              <a:ext uri="{FF2B5EF4-FFF2-40B4-BE49-F238E27FC236}">
                <a16:creationId xmlns:a16="http://schemas.microsoft.com/office/drawing/2014/main" id="{4D783559-FB4F-0411-47A2-9BF2180A18D8}"/>
              </a:ext>
            </a:extLst>
          </p:cNvPr>
          <p:cNvPicPr>
            <a:picLocks noChangeAspect="1"/>
          </p:cNvPicPr>
          <p:nvPr/>
        </p:nvPicPr>
        <p:blipFill>
          <a:blip r:embed="rId2"/>
          <a:stretch>
            <a:fillRect/>
          </a:stretch>
        </p:blipFill>
        <p:spPr>
          <a:xfrm>
            <a:off x="986287" y="860038"/>
            <a:ext cx="10219424" cy="5152302"/>
          </a:xfrm>
          <a:prstGeom prst="rect">
            <a:avLst/>
          </a:prstGeom>
        </p:spPr>
      </p:pic>
    </p:spTree>
    <p:extLst>
      <p:ext uri="{BB962C8B-B14F-4D97-AF65-F5344CB8AC3E}">
        <p14:creationId xmlns:p14="http://schemas.microsoft.com/office/powerpoint/2010/main" val="2300411767"/>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ChronicleVTI</vt:lpstr>
      <vt:lpstr>ZOMATO RESTAURANTs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1467</cp:revision>
  <dcterms:created xsi:type="dcterms:W3CDTF">2025-01-23T07:17:30Z</dcterms:created>
  <dcterms:modified xsi:type="dcterms:W3CDTF">2025-02-03T06:54:54Z</dcterms:modified>
</cp:coreProperties>
</file>